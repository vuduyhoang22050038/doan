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 id="266" r:id="rId8"/>
    <p:sldId id="267" r:id="rId9"/>
    <p:sldId id="268" r:id="rId10"/>
    <p:sldId id="262" r:id="rId11"/>
    <p:sldId id="263" r:id="rId12"/>
    <p:sldId id="264" r:id="rId13"/>
    <p:sldId id="26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94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586757" y="5026223"/>
            <a:ext cx="5018484" cy="819150"/>
          </a:xfrm>
          <a:prstGeom prst="rect">
            <a:avLst/>
          </a:prstGeom>
        </p:spPr>
      </p:pic>
      <p:sp>
        <p:nvSpPr>
          <p:cNvPr id="4" name="TextBox 3"/>
          <p:cNvSpPr txBox="1"/>
          <p:nvPr/>
        </p:nvSpPr>
        <p:spPr>
          <a:xfrm>
            <a:off x="2545087" y="1012626"/>
            <a:ext cx="7101825" cy="323165"/>
          </a:xfrm>
          <a:prstGeom prst="rect">
            <a:avLst/>
          </a:prstGeom>
          <a:noFill/>
        </p:spPr>
        <p:txBody>
          <a:bodyPr wrap="square" lIns="0" tIns="0" rIns="0" bIns="0" anchor="t">
            <a:spAutoFit/>
          </a:bodyPr>
          <a:lstStyle/>
          <a:p>
            <a:pPr algn="ctr"/>
            <a:r>
              <a:rPr sz="2100" b="1" i="0" u="none">
                <a:latin typeface="Times New Roman" panose="02020603050405020304" pitchFamily="18" charset="0"/>
                <a:cs typeface="Times New Roman" panose="02020603050405020304" pitchFamily="18" charset="0"/>
              </a:rPr>
              <a:t>BÁO CÁO ĐỒ ÁN TỐT NGHIỆP</a:t>
            </a:r>
          </a:p>
        </p:txBody>
      </p:sp>
      <p:sp>
        <p:nvSpPr>
          <p:cNvPr id="5" name="TextBox 4"/>
          <p:cNvSpPr txBox="1"/>
          <p:nvPr/>
        </p:nvSpPr>
        <p:spPr>
          <a:xfrm>
            <a:off x="2018331" y="1603176"/>
            <a:ext cx="8155339" cy="1445909"/>
          </a:xfrm>
          <a:prstGeom prst="rect">
            <a:avLst/>
          </a:prstGeom>
          <a:noFill/>
        </p:spPr>
        <p:txBody>
          <a:bodyPr wrap="square" lIns="0" tIns="0" rIns="0" bIns="0" anchor="t">
            <a:spAutoFit/>
          </a:bodyPr>
          <a:lstStyle/>
          <a:p>
            <a:pPr algn="ctr">
              <a:lnSpc>
                <a:spcPts val="5759"/>
              </a:lnSpc>
            </a:pPr>
            <a:r>
              <a:rPr lang="en-US" sz="4800" b="1" i="0" u="none">
                <a:latin typeface="Times New Roman" panose="02020603050405020304" pitchFamily="18" charset="0"/>
                <a:cs typeface="Times New Roman" panose="02020603050405020304" pitchFamily="18" charset="0"/>
              </a:rPr>
              <a:t>HỆ THỐNG QUẢN LÝ</a:t>
            </a:r>
            <a:r>
              <a:rPr lang="en-US">
                <a:latin typeface="Times New Roman" panose="02020603050405020304" pitchFamily="18" charset="0"/>
                <a:cs typeface="Times New Roman" panose="02020603050405020304" pitchFamily="18" charset="0"/>
              </a:rPr>
              <a:t>
</a:t>
            </a:r>
            <a:r>
              <a:rPr lang="en-US" sz="4800" b="1" i="0" u="none">
                <a:latin typeface="Times New Roman" panose="02020603050405020304" pitchFamily="18" charset="0"/>
                <a:cs typeface="Times New Roman" panose="02020603050405020304" pitchFamily="18" charset="0"/>
              </a:rPr>
              <a:t> BÃI ĐỖ XE THÔNG MINH</a:t>
            </a:r>
          </a:p>
        </p:txBody>
      </p:sp>
      <p:sp>
        <p:nvSpPr>
          <p:cNvPr id="6" name="Rectangle 5"/>
          <p:cNvSpPr/>
          <p:nvPr/>
        </p:nvSpPr>
        <p:spPr>
          <a:xfrm>
            <a:off x="5381625" y="3351907"/>
            <a:ext cx="142875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2714178" y="3675757"/>
            <a:ext cx="6763642" cy="731341"/>
          </a:xfrm>
          <a:prstGeom prst="rect">
            <a:avLst/>
          </a:prstGeom>
          <a:noFill/>
        </p:spPr>
        <p:txBody>
          <a:bodyPr wrap="square" lIns="0" tIns="0" rIns="0" bIns="0" anchor="t">
            <a:spAutoFit/>
          </a:bodyPr>
          <a:lstStyle/>
          <a:p>
            <a:pPr algn="ctr">
              <a:lnSpc>
                <a:spcPts val="2879"/>
              </a:lnSpc>
            </a:pPr>
            <a:r>
              <a:rPr sz="1800" b="0" i="0" u="none">
                <a:latin typeface="Times New Roman" panose="02020603050405020304" pitchFamily="18" charset="0"/>
                <a:cs typeface="Times New Roman" panose="02020603050405020304" pitchFamily="18" charset="0"/>
              </a:rPr>
              <a:t>Sử dụng AI Nhận diện biển số và Thẻ NFC Ảo (HCE)</a:t>
            </a:r>
            <a:r>
              <a:rPr>
                <a:latin typeface="Times New Roman" panose="02020603050405020304" pitchFamily="18" charset="0"/>
                <a:cs typeface="Times New Roman" panose="02020603050405020304" pitchFamily="18" charset="0"/>
              </a:rPr>
              <a:t>
</a:t>
            </a:r>
            <a:r>
              <a:rPr sz="1800" b="0" i="0" u="none">
                <a:latin typeface="Times New Roman" panose="02020603050405020304" pitchFamily="18" charset="0"/>
                <a:cs typeface="Times New Roman" panose="02020603050405020304" pitchFamily="18" charset="0"/>
              </a:rPr>
              <a:t> trực tiếp trên thiết bị di động Android</a:t>
            </a:r>
          </a:p>
        </p:txBody>
      </p:sp>
      <p:sp>
        <p:nvSpPr>
          <p:cNvPr id="8" name="TextBox 7"/>
          <p:cNvSpPr txBox="1"/>
          <p:nvPr/>
        </p:nvSpPr>
        <p:spPr>
          <a:xfrm>
            <a:off x="3967757" y="5216723"/>
            <a:ext cx="1962298" cy="484748"/>
          </a:xfrm>
          <a:prstGeom prst="rect">
            <a:avLst/>
          </a:prstGeom>
          <a:noFill/>
        </p:spPr>
        <p:txBody>
          <a:bodyPr wrap="square" lIns="0" tIns="0" rIns="0" bIns="0" anchor="t">
            <a:spAutoFit/>
          </a:bodyPr>
          <a:lstStyle/>
          <a:p>
            <a:pPr algn="l"/>
            <a:r>
              <a:rPr sz="1350" b="1" i="0" u="none">
                <a:latin typeface="Times New Roman" panose="02020603050405020304" pitchFamily="18" charset="0"/>
                <a:cs typeface="Times New Roman" panose="02020603050405020304" pitchFamily="18" charset="0"/>
              </a:rPr>
              <a:t>Sinh viên thực hiện:</a:t>
            </a:r>
            <a:r>
              <a:rPr>
                <a:latin typeface="Times New Roman" panose="02020603050405020304" pitchFamily="18" charset="0"/>
                <a:cs typeface="Times New Roman" panose="02020603050405020304" pitchFamily="18" charset="0"/>
              </a:rPr>
              <a:t>
</a:t>
            </a:r>
            <a:r>
              <a:rPr sz="1350" b="0" i="0" u="none">
                <a:latin typeface="Times New Roman" panose="02020603050405020304" pitchFamily="18" charset="0"/>
                <a:cs typeface="Times New Roman" panose="02020603050405020304" pitchFamily="18" charset="0"/>
              </a:rPr>
              <a:t> Vũ Duy Hoàng (22050038)</a:t>
            </a:r>
          </a:p>
        </p:txBody>
      </p:sp>
      <p:sp>
        <p:nvSpPr>
          <p:cNvPr id="9" name="TextBox 8"/>
          <p:cNvSpPr txBox="1"/>
          <p:nvPr/>
        </p:nvSpPr>
        <p:spPr>
          <a:xfrm>
            <a:off x="6501556" y="5216723"/>
            <a:ext cx="1722685" cy="484748"/>
          </a:xfrm>
          <a:prstGeom prst="rect">
            <a:avLst/>
          </a:prstGeom>
          <a:noFill/>
        </p:spPr>
        <p:txBody>
          <a:bodyPr wrap="square" lIns="0" tIns="0" rIns="0" bIns="0" anchor="t">
            <a:spAutoFit/>
          </a:bodyPr>
          <a:lstStyle/>
          <a:p>
            <a:pPr algn="l"/>
            <a:r>
              <a:rPr sz="1350" b="1" i="0" u="none">
                <a:latin typeface="Times New Roman" panose="02020603050405020304" pitchFamily="18" charset="0"/>
                <a:cs typeface="Times New Roman" panose="02020603050405020304" pitchFamily="18" charset="0"/>
              </a:rPr>
              <a:t>Giảng viên hướng dẫn:</a:t>
            </a:r>
            <a:r>
              <a:rPr>
                <a:latin typeface="Times New Roman" panose="02020603050405020304" pitchFamily="18" charset="0"/>
                <a:cs typeface="Times New Roman" panose="02020603050405020304" pitchFamily="18" charset="0"/>
              </a:rPr>
              <a:t>
</a:t>
            </a:r>
            <a:r>
              <a:rPr sz="1350" b="0" i="0" u="none">
                <a:latin typeface="Times New Roman" panose="02020603050405020304" pitchFamily="18" charset="0"/>
                <a:cs typeface="Times New Roman" panose="02020603050405020304" pitchFamily="18" charset="0"/>
              </a:rPr>
              <a:t> Th.S Lê Duy Hùng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096000" y="0"/>
            <a:ext cx="6096000" cy="6858000"/>
          </a:xfrm>
          <a:prstGeom prst="rect">
            <a:avLst/>
          </a:prstGeom>
        </p:spPr>
      </p:pic>
      <p:sp>
        <p:nvSpPr>
          <p:cNvPr id="4" name="TextBox 3"/>
          <p:cNvSpPr txBox="1"/>
          <p:nvPr/>
        </p:nvSpPr>
        <p:spPr>
          <a:xfrm>
            <a:off x="571500" y="571500"/>
            <a:ext cx="5200650" cy="484748"/>
          </a:xfrm>
          <a:prstGeom prst="rect">
            <a:avLst/>
          </a:prstGeom>
          <a:noFill/>
        </p:spPr>
        <p:txBody>
          <a:bodyPr wrap="square" lIns="0" tIns="0" rIns="0" bIns="0" anchor="t">
            <a:spAutoFit/>
          </a:bodyPr>
          <a:lstStyle/>
          <a:p>
            <a:pPr algn="l"/>
            <a:r>
              <a:rPr lang="en-US" sz="3150" b="1" i="0" u="none">
                <a:solidFill>
                  <a:srgbClr val="1E3A8A"/>
                </a:solidFill>
                <a:latin typeface="Times New Roman" panose="02020603050405020304" pitchFamily="18" charset="0"/>
                <a:cs typeface="Times New Roman" panose="02020603050405020304" pitchFamily="18" charset="0"/>
              </a:rPr>
              <a:t>Thực trạng bài toán</a:t>
            </a:r>
          </a:p>
        </p:txBody>
      </p:sp>
      <p:pic>
        <p:nvPicPr>
          <p:cNvPr id="5" name="Picture 4" descr="image.png"/>
          <p:cNvPicPr>
            <a:picLocks noChangeAspect="1"/>
          </p:cNvPicPr>
          <p:nvPr/>
        </p:nvPicPr>
        <p:blipFill>
          <a:blip r:embed="rId4"/>
          <a:stretch>
            <a:fillRect/>
          </a:stretch>
        </p:blipFill>
        <p:spPr>
          <a:xfrm>
            <a:off x="6096000" y="0"/>
            <a:ext cx="6096000" cy="6858000"/>
          </a:xfrm>
          <a:prstGeom prst="rect">
            <a:avLst/>
          </a:prstGeom>
        </p:spPr>
      </p:pic>
      <p:sp>
        <p:nvSpPr>
          <p:cNvPr id="6" name="TextBox 5"/>
          <p:cNvSpPr txBox="1"/>
          <p:nvPr/>
        </p:nvSpPr>
        <p:spPr>
          <a:xfrm>
            <a:off x="571500" y="2020788"/>
            <a:ext cx="4953000" cy="966547"/>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Hệ thống truyền thống quá cồng kềnh:</a:t>
            </a:r>
            <a:r>
              <a:rPr sz="1650" b="0" i="0" u="none">
                <a:latin typeface="Times New Roman" panose="02020603050405020304" pitchFamily="18" charset="0"/>
                <a:cs typeface="Times New Roman" panose="02020603050405020304" pitchFamily="18" charset="0"/>
              </a:rPr>
              <a:t> Phụ thuộc hoàn toàn vào hệ thống máy tính cắm cố định, đầu đọc RFID và camera chuyên dụng lắp tại từng trạm kiểm soát.</a:t>
            </a:r>
          </a:p>
        </p:txBody>
      </p:sp>
      <p:sp>
        <p:nvSpPr>
          <p:cNvPr id="7" name="TextBox 6"/>
          <p:cNvSpPr txBox="1"/>
          <p:nvPr/>
        </p:nvSpPr>
        <p:spPr>
          <a:xfrm>
            <a:off x="571500" y="3421583"/>
            <a:ext cx="4953000" cy="633122"/>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Chi phí đầu tư cao:</a:t>
            </a:r>
            <a:r>
              <a:rPr sz="1650" b="0" i="0" u="none">
                <a:latin typeface="Times New Roman" panose="02020603050405020304" pitchFamily="18" charset="0"/>
                <a:cs typeface="Times New Roman" panose="02020603050405020304" pitchFamily="18" charset="0"/>
              </a:rPr>
              <a:t> Rào cản lớn đối với các bãi đỗ xe quy mô nhỏ và vừa (trường học, quán cafe, khu trọ).</a:t>
            </a:r>
          </a:p>
        </p:txBody>
      </p:sp>
      <p:sp>
        <p:nvSpPr>
          <p:cNvPr id="8" name="TextBox 7"/>
          <p:cNvSpPr txBox="1"/>
          <p:nvPr/>
        </p:nvSpPr>
        <p:spPr>
          <a:xfrm>
            <a:off x="571500" y="4488953"/>
            <a:ext cx="4953000" cy="966547"/>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Thiếu tính linh hoạt:</a:t>
            </a:r>
            <a:r>
              <a:rPr sz="1650" b="0" i="0" u="none">
                <a:latin typeface="Times New Roman" panose="02020603050405020304" pitchFamily="18" charset="0"/>
                <a:cs typeface="Times New Roman" panose="02020603050405020304" pitchFamily="18" charset="0"/>
              </a:rPr>
              <a:t> Khó khăn trong việc di dời, thay đổi vị trí kiểm soát khi có sự kiện hoặc cần phân luồng giao thông tức thời.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11601450" cy="484748"/>
          </a:xfrm>
          <a:prstGeom prst="rect">
            <a:avLst/>
          </a:prstGeom>
          <a:noFill/>
        </p:spPr>
        <p:txBody>
          <a:bodyPr wrap="square" lIns="0" tIns="0" rIns="0" bIns="0" anchor="t">
            <a:spAutoFit/>
          </a:bodyPr>
          <a:lstStyle/>
          <a:p>
            <a:pPr algn="l"/>
            <a:r>
              <a:rPr lang="en-US" sz="3150" b="1" i="0" u="none">
                <a:solidFill>
                  <a:srgbClr val="1E3A8A"/>
                </a:solidFill>
                <a:latin typeface="Times New Roman" panose="02020603050405020304" pitchFamily="18" charset="0"/>
                <a:cs typeface="Times New Roman" panose="02020603050405020304" pitchFamily="18" charset="0"/>
              </a:rPr>
              <a:t>Mục tiêu &amp; giải pháp đề xuất</a:t>
            </a:r>
          </a:p>
        </p:txBody>
      </p:sp>
      <p:sp>
        <p:nvSpPr>
          <p:cNvPr id="4" name="Rectangle 3"/>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1809750" y="1927324"/>
            <a:ext cx="9048750" cy="633122"/>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Tận dụng thiết bị di động có sẵn</a:t>
            </a:r>
            <a:r>
              <a:rPr sz="1650" b="0" i="0" u="none">
                <a:latin typeface="Times New Roman" panose="02020603050405020304" pitchFamily="18" charset="0"/>
                <a:cs typeface="Times New Roman" panose="02020603050405020304" pitchFamily="18" charset="0"/>
              </a:rPr>
              <a:t> Biến chiếc điện thoại Android thông thường của nhân viên bảo vệ thành "Trạm kiểm soát di động" thay thế hoàn toàn PC và Camera cố định.</a:t>
            </a:r>
          </a:p>
        </p:txBody>
      </p:sp>
      <p:sp>
        <p:nvSpPr>
          <p:cNvPr id="6" name="TextBox 5"/>
          <p:cNvSpPr txBox="1"/>
          <p:nvPr/>
        </p:nvSpPr>
        <p:spPr>
          <a:xfrm>
            <a:off x="1809750" y="3296691"/>
            <a:ext cx="9048750" cy="633122"/>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Xử lý tại biên (Edge AI)</a:t>
            </a:r>
            <a:r>
              <a:rPr sz="1650" b="0" i="0" u="none">
                <a:latin typeface="Times New Roman" panose="02020603050405020304" pitchFamily="18" charset="0"/>
                <a:cs typeface="Times New Roman" panose="02020603050405020304" pitchFamily="18" charset="0"/>
              </a:rPr>
              <a:t> Đưa mô hình nhận diện biển số (Google ML Kit) chạy trực tiếp ngay trên điện thoại, giảm tải băng thông và không phụ thuộc vào Server đắt tiền.</a:t>
            </a:r>
          </a:p>
        </p:txBody>
      </p:sp>
      <p:sp>
        <p:nvSpPr>
          <p:cNvPr id="7" name="TextBox 6"/>
          <p:cNvSpPr txBox="1"/>
          <p:nvPr/>
        </p:nvSpPr>
        <p:spPr>
          <a:xfrm>
            <a:off x="1809750" y="4666059"/>
            <a:ext cx="9048750" cy="633122"/>
          </a:xfrm>
          <a:prstGeom prst="rect">
            <a:avLst/>
          </a:prstGeom>
          <a:noFill/>
        </p:spPr>
        <p:txBody>
          <a:bodyPr wrap="square" lIns="0" tIns="0" rIns="0" bIns="0" anchor="t">
            <a:spAutoFit/>
          </a:bodyPr>
          <a:lstStyle/>
          <a:p>
            <a:pPr algn="just">
              <a:lnSpc>
                <a:spcPts val="2640"/>
              </a:lnSpc>
            </a:pPr>
            <a:r>
              <a:rPr sz="1650" b="1" i="0" u="none">
                <a:latin typeface="Times New Roman" panose="02020603050405020304" pitchFamily="18" charset="0"/>
                <a:cs typeface="Times New Roman" panose="02020603050405020304" pitchFamily="18" charset="0"/>
              </a:rPr>
              <a:t>Ảo hóa thẻ vật lý</a:t>
            </a:r>
            <a:r>
              <a:rPr sz="1650" b="0" i="0" u="none">
                <a:latin typeface="Times New Roman" panose="02020603050405020304" pitchFamily="18" charset="0"/>
                <a:cs typeface="Times New Roman" panose="02020603050405020304" pitchFamily="18" charset="0"/>
              </a:rPr>
              <a:t> Sử dụng công nghệ Host Card Emulation (HCE) trên điện thoại khách hàng để thay thế hoàn toàn thẻ nhựa RFID/NFC truyền thống.</a:t>
            </a:r>
          </a:p>
        </p:txBody>
      </p:sp>
      <p:pic>
        <p:nvPicPr>
          <p:cNvPr id="8" name="Picture 7" descr="image.png"/>
          <p:cNvPicPr>
            <a:picLocks noChangeAspect="1"/>
          </p:cNvPicPr>
          <p:nvPr/>
        </p:nvPicPr>
        <p:blipFill>
          <a:blip r:embed="rId3"/>
          <a:stretch>
            <a:fillRect/>
          </a:stretch>
        </p:blipFill>
        <p:spPr>
          <a:xfrm>
            <a:off x="1333500" y="1941611"/>
            <a:ext cx="200025" cy="276225"/>
          </a:xfrm>
          <a:prstGeom prst="rect">
            <a:avLst/>
          </a:prstGeom>
        </p:spPr>
      </p:pic>
      <p:pic>
        <p:nvPicPr>
          <p:cNvPr id="9" name="Picture 8" descr="image.png"/>
          <p:cNvPicPr>
            <a:picLocks noChangeAspect="1"/>
          </p:cNvPicPr>
          <p:nvPr/>
        </p:nvPicPr>
        <p:blipFill>
          <a:blip r:embed="rId4"/>
          <a:stretch>
            <a:fillRect/>
          </a:stretch>
        </p:blipFill>
        <p:spPr>
          <a:xfrm>
            <a:off x="1333500" y="3310979"/>
            <a:ext cx="266700" cy="276225"/>
          </a:xfrm>
          <a:prstGeom prst="rect">
            <a:avLst/>
          </a:prstGeom>
        </p:spPr>
      </p:pic>
      <p:pic>
        <p:nvPicPr>
          <p:cNvPr id="10" name="Picture 9" descr="image.png"/>
          <p:cNvPicPr>
            <a:picLocks noChangeAspect="1"/>
          </p:cNvPicPr>
          <p:nvPr/>
        </p:nvPicPr>
        <p:blipFill>
          <a:blip r:embed="rId5"/>
          <a:stretch>
            <a:fillRect/>
          </a:stretch>
        </p:blipFill>
        <p:spPr>
          <a:xfrm>
            <a:off x="1333500" y="4680346"/>
            <a:ext cx="304800" cy="2762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95475"/>
            <a:ext cx="3429000" cy="4171950"/>
          </a:xfrm>
          <a:prstGeom prst="rect">
            <a:avLst/>
          </a:prstGeom>
        </p:spPr>
      </p:pic>
      <p:pic>
        <p:nvPicPr>
          <p:cNvPr id="4" name="Picture 3" descr="image.png"/>
          <p:cNvPicPr>
            <a:picLocks noChangeAspect="1"/>
          </p:cNvPicPr>
          <p:nvPr/>
        </p:nvPicPr>
        <p:blipFill>
          <a:blip r:embed="rId4"/>
          <a:stretch>
            <a:fillRect/>
          </a:stretch>
        </p:blipFill>
        <p:spPr>
          <a:xfrm>
            <a:off x="4381500" y="1895475"/>
            <a:ext cx="3429000" cy="4171950"/>
          </a:xfrm>
          <a:prstGeom prst="rect">
            <a:avLst/>
          </a:prstGeom>
        </p:spPr>
      </p:pic>
      <p:pic>
        <p:nvPicPr>
          <p:cNvPr id="5" name="Picture 4" descr="image.png"/>
          <p:cNvPicPr>
            <a:picLocks noChangeAspect="1"/>
          </p:cNvPicPr>
          <p:nvPr/>
        </p:nvPicPr>
        <p:blipFill>
          <a:blip r:embed="rId5"/>
          <a:stretch>
            <a:fillRect/>
          </a:stretch>
        </p:blipFill>
        <p:spPr>
          <a:xfrm>
            <a:off x="8191500" y="1895475"/>
            <a:ext cx="3429000" cy="4171950"/>
          </a:xfrm>
          <a:prstGeom prst="rect">
            <a:avLst/>
          </a:prstGeom>
        </p:spPr>
      </p:pic>
      <p:sp>
        <p:nvSpPr>
          <p:cNvPr id="6" name="TextBox 5"/>
          <p:cNvSpPr txBox="1"/>
          <p:nvPr/>
        </p:nvSpPr>
        <p:spPr>
          <a:xfrm>
            <a:off x="571500" y="571500"/>
            <a:ext cx="11601450" cy="484748"/>
          </a:xfrm>
          <a:prstGeom prst="rect">
            <a:avLst/>
          </a:prstGeom>
          <a:noFill/>
        </p:spPr>
        <p:txBody>
          <a:bodyPr wrap="square" lIns="0" tIns="0" rIns="0" bIns="0" anchor="t">
            <a:spAutoFit/>
          </a:bodyPr>
          <a:lstStyle/>
          <a:p>
            <a:pPr algn="l"/>
            <a:r>
              <a:rPr lang="en-US" sz="3150" b="1" i="0" u="none">
                <a:solidFill>
                  <a:srgbClr val="1E3A8A"/>
                </a:solidFill>
                <a:latin typeface="Times New Roman" panose="02020603050405020304" pitchFamily="18" charset="0"/>
                <a:cs typeface="Times New Roman" panose="02020603050405020304" pitchFamily="18" charset="0"/>
              </a:rPr>
              <a:t>3 điểm cốt lõi của hệ thống</a:t>
            </a:r>
          </a:p>
        </p:txBody>
      </p:sp>
      <p:sp>
        <p:nvSpPr>
          <p:cNvPr id="7" name="Rectangle 6"/>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405890" y="3162300"/>
            <a:ext cx="1760220"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Edge AI OCR</a:t>
            </a:r>
          </a:p>
        </p:txBody>
      </p:sp>
      <p:sp>
        <p:nvSpPr>
          <p:cNvPr id="9" name="TextBox 8"/>
          <p:cNvSpPr txBox="1"/>
          <p:nvPr/>
        </p:nvSpPr>
        <p:spPr>
          <a:xfrm>
            <a:off x="866775" y="3705225"/>
            <a:ext cx="2838450" cy="150701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Tích hợp Google ML Kit Text Recognition. Ảnh biển số được chụp và bóc tách thành văn bản ngay trên RAM của điện thoại bảo vệ, chỉ gửi chuỗi Text nhẹ nhàng về Server.</a:t>
            </a:r>
          </a:p>
        </p:txBody>
      </p:sp>
      <p:sp>
        <p:nvSpPr>
          <p:cNvPr id="10" name="TextBox 9"/>
          <p:cNvSpPr txBox="1"/>
          <p:nvPr/>
        </p:nvSpPr>
        <p:spPr>
          <a:xfrm>
            <a:off x="5129632" y="3162300"/>
            <a:ext cx="1932585"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NFC Ảo (HCE)</a:t>
            </a:r>
          </a:p>
        </p:txBody>
      </p:sp>
      <p:sp>
        <p:nvSpPr>
          <p:cNvPr id="11" name="TextBox 10"/>
          <p:cNvSpPr txBox="1"/>
          <p:nvPr/>
        </p:nvSpPr>
        <p:spPr>
          <a:xfrm>
            <a:off x="4676775" y="3705225"/>
            <a:ext cx="2838450" cy="1199239"/>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Người dùng không cần mang thẻ nhựa. Điện thoại Khách hàng phát ra tín hiệu NFC giả lập, điện thoại Bảo vệ đóng vai trò đầu đọc thẻ (Reader).</a:t>
            </a:r>
          </a:p>
        </p:txBody>
      </p:sp>
      <p:sp>
        <p:nvSpPr>
          <p:cNvPr id="12" name="TextBox 11"/>
          <p:cNvSpPr txBox="1"/>
          <p:nvPr/>
        </p:nvSpPr>
        <p:spPr>
          <a:xfrm>
            <a:off x="8822899" y="3162300"/>
            <a:ext cx="2166051"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Giao tiếp MQTT</a:t>
            </a:r>
          </a:p>
        </p:txBody>
      </p:sp>
      <p:sp>
        <p:nvSpPr>
          <p:cNvPr id="13" name="TextBox 12"/>
          <p:cNvSpPr txBox="1"/>
          <p:nvPr/>
        </p:nvSpPr>
        <p:spPr>
          <a:xfrm>
            <a:off x="8486775" y="3705225"/>
            <a:ext cx="2838450" cy="1199239"/>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Sử dụng giao thức MQTT gọn nhẹ chuẩn IoT để trao đổi dữ liệu tức thời giữa Điện thoại, Node.js Server và mạch điều khiển Barrier ESP32.</a:t>
            </a:r>
          </a:p>
        </p:txBody>
      </p:sp>
      <p:pic>
        <p:nvPicPr>
          <p:cNvPr id="14" name="Picture 13" descr="image.png"/>
          <p:cNvPicPr>
            <a:picLocks noChangeAspect="1"/>
          </p:cNvPicPr>
          <p:nvPr/>
        </p:nvPicPr>
        <p:blipFill>
          <a:blip r:embed="rId6"/>
          <a:stretch>
            <a:fillRect/>
          </a:stretch>
        </p:blipFill>
        <p:spPr>
          <a:xfrm>
            <a:off x="2019300" y="2343150"/>
            <a:ext cx="533400" cy="533400"/>
          </a:xfrm>
          <a:prstGeom prst="rect">
            <a:avLst/>
          </a:prstGeom>
        </p:spPr>
      </p:pic>
      <p:pic>
        <p:nvPicPr>
          <p:cNvPr id="15" name="Picture 14" descr="image.png"/>
          <p:cNvPicPr>
            <a:picLocks noChangeAspect="1"/>
          </p:cNvPicPr>
          <p:nvPr/>
        </p:nvPicPr>
        <p:blipFill>
          <a:blip r:embed="rId7"/>
          <a:stretch>
            <a:fillRect/>
          </a:stretch>
        </p:blipFill>
        <p:spPr>
          <a:xfrm>
            <a:off x="5795962" y="2343150"/>
            <a:ext cx="600075" cy="533400"/>
          </a:xfrm>
          <a:prstGeom prst="rect">
            <a:avLst/>
          </a:prstGeom>
        </p:spPr>
      </p:pic>
      <p:pic>
        <p:nvPicPr>
          <p:cNvPr id="16" name="Picture 15" descr="image.png"/>
          <p:cNvPicPr>
            <a:picLocks noChangeAspect="1"/>
          </p:cNvPicPr>
          <p:nvPr/>
        </p:nvPicPr>
        <p:blipFill>
          <a:blip r:embed="rId8"/>
          <a:stretch>
            <a:fillRect/>
          </a:stretch>
        </p:blipFill>
        <p:spPr>
          <a:xfrm>
            <a:off x="9672637" y="2343150"/>
            <a:ext cx="466725" cy="533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57437"/>
            <a:ext cx="3429000" cy="3248025"/>
          </a:xfrm>
          <a:prstGeom prst="rect">
            <a:avLst/>
          </a:prstGeom>
        </p:spPr>
      </p:pic>
      <p:pic>
        <p:nvPicPr>
          <p:cNvPr id="4" name="Picture 3" descr="image.png"/>
          <p:cNvPicPr>
            <a:picLocks noChangeAspect="1"/>
          </p:cNvPicPr>
          <p:nvPr/>
        </p:nvPicPr>
        <p:blipFill>
          <a:blip r:embed="rId4"/>
          <a:stretch>
            <a:fillRect/>
          </a:stretch>
        </p:blipFill>
        <p:spPr>
          <a:xfrm>
            <a:off x="4381500" y="2357437"/>
            <a:ext cx="3429000" cy="3248025"/>
          </a:xfrm>
          <a:prstGeom prst="rect">
            <a:avLst/>
          </a:prstGeom>
        </p:spPr>
      </p:pic>
      <p:pic>
        <p:nvPicPr>
          <p:cNvPr id="5" name="Picture 4" descr="image.png"/>
          <p:cNvPicPr>
            <a:picLocks noChangeAspect="1"/>
          </p:cNvPicPr>
          <p:nvPr/>
        </p:nvPicPr>
        <p:blipFill>
          <a:blip r:embed="rId4"/>
          <a:stretch>
            <a:fillRect/>
          </a:stretch>
        </p:blipFill>
        <p:spPr>
          <a:xfrm>
            <a:off x="8191500" y="2357437"/>
            <a:ext cx="3429000" cy="3248025"/>
          </a:xfrm>
          <a:prstGeom prst="rect">
            <a:avLst/>
          </a:prstGeom>
        </p:spPr>
      </p:pic>
      <p:sp>
        <p:nvSpPr>
          <p:cNvPr id="6" name="TextBox 5"/>
          <p:cNvSpPr txBox="1"/>
          <p:nvPr/>
        </p:nvSpPr>
        <p:spPr>
          <a:xfrm>
            <a:off x="571500" y="571500"/>
            <a:ext cx="11601450" cy="484748"/>
          </a:xfrm>
          <a:prstGeom prst="rect">
            <a:avLst/>
          </a:prstGeom>
          <a:noFill/>
        </p:spPr>
        <p:txBody>
          <a:bodyPr wrap="square" lIns="0" tIns="0" rIns="0" bIns="0" anchor="t">
            <a:spAutoFit/>
          </a:bodyPr>
          <a:lstStyle/>
          <a:p>
            <a:pPr algn="l"/>
            <a:r>
              <a:rPr lang="en-US" sz="3150" b="1" i="0" u="none">
                <a:solidFill>
                  <a:srgbClr val="1E3A8A"/>
                </a:solidFill>
                <a:latin typeface="Times New Roman" panose="02020603050405020304" pitchFamily="18" charset="0"/>
                <a:cs typeface="Times New Roman" panose="02020603050405020304" pitchFamily="18" charset="0"/>
              </a:rPr>
              <a:t>Bộ công nghệ triển khai thực tế</a:t>
            </a:r>
          </a:p>
        </p:txBody>
      </p:sp>
      <p:sp>
        <p:nvSpPr>
          <p:cNvPr id="7" name="Rectangle 6"/>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771525" y="4652962"/>
            <a:ext cx="3028950" cy="275909"/>
          </a:xfrm>
          <a:prstGeom prst="rect">
            <a:avLst/>
          </a:prstGeom>
          <a:noFill/>
        </p:spPr>
        <p:txBody>
          <a:bodyPr wrap="square" lIns="0" tIns="0" rIns="0" bIns="0" anchor="t">
            <a:spAutoFit/>
          </a:bodyPr>
          <a:lstStyle/>
          <a:p>
            <a:pPr algn="ctr">
              <a:lnSpc>
                <a:spcPts val="2400"/>
              </a:lnSpc>
            </a:pPr>
            <a:r>
              <a:rPr sz="1500" b="0" i="0" u="none">
                <a:latin typeface="Times New Roman" panose="02020603050405020304" pitchFamily="18" charset="0"/>
                <a:cs typeface="Times New Roman" panose="02020603050405020304" pitchFamily="18" charset="0"/>
              </a:rPr>
              <a:t>Flutter: App Nhân Viên &amp; Khách</a:t>
            </a:r>
          </a:p>
        </p:txBody>
      </p:sp>
      <p:sp>
        <p:nvSpPr>
          <p:cNvPr id="9" name="TextBox 8"/>
          <p:cNvSpPr txBox="1"/>
          <p:nvPr/>
        </p:nvSpPr>
        <p:spPr>
          <a:xfrm>
            <a:off x="4581525" y="4652962"/>
            <a:ext cx="3028950" cy="275909"/>
          </a:xfrm>
          <a:prstGeom prst="rect">
            <a:avLst/>
          </a:prstGeom>
          <a:noFill/>
        </p:spPr>
        <p:txBody>
          <a:bodyPr wrap="square" lIns="0" tIns="0" rIns="0" bIns="0" anchor="t">
            <a:spAutoFit/>
          </a:bodyPr>
          <a:lstStyle/>
          <a:p>
            <a:pPr algn="ctr">
              <a:lnSpc>
                <a:spcPts val="2400"/>
              </a:lnSpc>
            </a:pPr>
            <a:r>
              <a:rPr sz="1500" b="0" i="0" u="none">
                <a:latin typeface="Times New Roman" panose="02020603050405020304" pitchFamily="18" charset="0"/>
                <a:cs typeface="Times New Roman" panose="02020603050405020304" pitchFamily="18" charset="0"/>
              </a:rPr>
              <a:t>Google ML Kit: Nhận diện OCR</a:t>
            </a:r>
          </a:p>
        </p:txBody>
      </p:sp>
      <p:sp>
        <p:nvSpPr>
          <p:cNvPr id="10" name="TextBox 9"/>
          <p:cNvSpPr txBox="1"/>
          <p:nvPr/>
        </p:nvSpPr>
        <p:spPr>
          <a:xfrm>
            <a:off x="8391525" y="4652962"/>
            <a:ext cx="3028950" cy="275909"/>
          </a:xfrm>
          <a:prstGeom prst="rect">
            <a:avLst/>
          </a:prstGeom>
          <a:noFill/>
        </p:spPr>
        <p:txBody>
          <a:bodyPr wrap="square" lIns="0" tIns="0" rIns="0" bIns="0" anchor="t">
            <a:spAutoFit/>
          </a:bodyPr>
          <a:lstStyle/>
          <a:p>
            <a:pPr algn="ctr">
              <a:lnSpc>
                <a:spcPts val="2400"/>
              </a:lnSpc>
            </a:pPr>
            <a:r>
              <a:rPr sz="1500" b="0" i="0" u="none">
                <a:latin typeface="Times New Roman" panose="02020603050405020304" pitchFamily="18" charset="0"/>
                <a:cs typeface="Times New Roman" panose="02020603050405020304" pitchFamily="18" charset="0"/>
              </a:rPr>
              <a:t>Node.js &amp; ESP32: Logic &amp; Điều khiển</a:t>
            </a:r>
          </a:p>
        </p:txBody>
      </p:sp>
      <p:pic>
        <p:nvPicPr>
          <p:cNvPr id="11" name="Picture 10" descr="image.png"/>
          <p:cNvPicPr>
            <a:picLocks noChangeAspect="1"/>
          </p:cNvPicPr>
          <p:nvPr/>
        </p:nvPicPr>
        <p:blipFill>
          <a:blip r:embed="rId5"/>
          <a:stretch>
            <a:fillRect/>
          </a:stretch>
        </p:blipFill>
        <p:spPr>
          <a:xfrm>
            <a:off x="771525" y="2557462"/>
            <a:ext cx="3028950" cy="1905000"/>
          </a:xfrm>
          <a:prstGeom prst="rect">
            <a:avLst/>
          </a:prstGeom>
        </p:spPr>
      </p:pic>
      <p:pic>
        <p:nvPicPr>
          <p:cNvPr id="12" name="Picture 11" descr="image.png"/>
          <p:cNvPicPr>
            <a:picLocks noChangeAspect="1"/>
          </p:cNvPicPr>
          <p:nvPr/>
        </p:nvPicPr>
        <p:blipFill>
          <a:blip r:embed="rId6"/>
          <a:stretch>
            <a:fillRect/>
          </a:stretch>
        </p:blipFill>
        <p:spPr>
          <a:xfrm>
            <a:off x="4581525" y="2557462"/>
            <a:ext cx="3028950" cy="1905000"/>
          </a:xfrm>
          <a:prstGeom prst="rect">
            <a:avLst/>
          </a:prstGeom>
        </p:spPr>
      </p:pic>
      <p:pic>
        <p:nvPicPr>
          <p:cNvPr id="13" name="Picture 12" descr="image.png"/>
          <p:cNvPicPr>
            <a:picLocks noChangeAspect="1"/>
          </p:cNvPicPr>
          <p:nvPr/>
        </p:nvPicPr>
        <p:blipFill>
          <a:blip r:embed="rId7"/>
          <a:stretch>
            <a:fillRect/>
          </a:stretch>
        </p:blipFill>
        <p:spPr>
          <a:xfrm>
            <a:off x="8391525" y="2557462"/>
            <a:ext cx="3028950" cy="1905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19237"/>
            <a:ext cx="5238750" cy="4924425"/>
          </a:xfrm>
          <a:prstGeom prst="rect">
            <a:avLst/>
          </a:prstGeom>
        </p:spPr>
      </p:pic>
      <p:pic>
        <p:nvPicPr>
          <p:cNvPr id="4" name="Picture 3" descr="image.png"/>
          <p:cNvPicPr>
            <a:picLocks noChangeAspect="1"/>
          </p:cNvPicPr>
          <p:nvPr/>
        </p:nvPicPr>
        <p:blipFill>
          <a:blip r:embed="rId4"/>
          <a:stretch>
            <a:fillRect/>
          </a:stretch>
        </p:blipFill>
        <p:spPr>
          <a:xfrm>
            <a:off x="6381750" y="1519237"/>
            <a:ext cx="5238750" cy="4924425"/>
          </a:xfrm>
          <a:prstGeom prst="rect">
            <a:avLst/>
          </a:prstGeom>
        </p:spPr>
      </p:pic>
      <p:sp>
        <p:nvSpPr>
          <p:cNvPr id="5" name="TextBox 4"/>
          <p:cNvSpPr txBox="1"/>
          <p:nvPr/>
        </p:nvSpPr>
        <p:spPr>
          <a:xfrm>
            <a:off x="571500" y="414337"/>
            <a:ext cx="11601450" cy="484748"/>
          </a:xfrm>
          <a:prstGeom prst="rect">
            <a:avLst/>
          </a:prstGeom>
          <a:noFill/>
        </p:spPr>
        <p:txBody>
          <a:bodyPr wrap="square" lIns="0" tIns="0" rIns="0" bIns="0" anchor="t">
            <a:spAutoFit/>
          </a:bodyPr>
          <a:lstStyle/>
          <a:p>
            <a:pPr algn="l"/>
            <a:r>
              <a:rPr lang="en-US" sz="3150" b="1" i="0" u="none">
                <a:solidFill>
                  <a:srgbClr val="1E3A8A"/>
                </a:solidFill>
                <a:latin typeface="Times New Roman" panose="02020603050405020304" pitchFamily="18" charset="0"/>
                <a:cs typeface="Times New Roman" panose="02020603050405020304" pitchFamily="18" charset="0"/>
              </a:rPr>
              <a:t>Kiến trúc client-server &amp; edge AI</a:t>
            </a:r>
          </a:p>
        </p:txBody>
      </p:sp>
      <p:sp>
        <p:nvSpPr>
          <p:cNvPr id="6" name="Rectangle 5"/>
          <p:cNvSpPr/>
          <p:nvPr/>
        </p:nvSpPr>
        <p:spPr>
          <a:xfrm>
            <a:off x="571500" y="1109662"/>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962025" y="1909762"/>
            <a:ext cx="4680585" cy="323165"/>
          </a:xfrm>
          <a:prstGeom prst="rect">
            <a:avLst/>
          </a:prstGeom>
          <a:noFill/>
        </p:spPr>
        <p:txBody>
          <a:bodyPr wrap="square" lIns="0" tIns="0" rIns="0" bIns="0" anchor="t">
            <a:spAutoFit/>
          </a:bodyPr>
          <a:lstStyle/>
          <a:p>
            <a:pPr algn="just"/>
            <a:r>
              <a:rPr sz="2100" b="1" i="0" u="none">
                <a:solidFill>
                  <a:srgbClr val="1D4ED8"/>
                </a:solidFill>
                <a:latin typeface="Times New Roman" panose="02020603050405020304" pitchFamily="18" charset="0"/>
                <a:cs typeface="Times New Roman" panose="02020603050405020304" pitchFamily="18" charset="0"/>
              </a:rPr>
              <a:t>Lớp Giao Diện (Frontend)</a:t>
            </a:r>
          </a:p>
        </p:txBody>
      </p:sp>
      <p:sp>
        <p:nvSpPr>
          <p:cNvPr id="8" name="TextBox 7"/>
          <p:cNvSpPr txBox="1"/>
          <p:nvPr/>
        </p:nvSpPr>
        <p:spPr>
          <a:xfrm>
            <a:off x="962025" y="2452687"/>
            <a:ext cx="4234880"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Được phát triển bằng nền tảng đa nền tảng Flutter, đảm bảo hiệu năng và giao diện đồng nhất.</a:t>
            </a:r>
          </a:p>
        </p:txBody>
      </p:sp>
      <p:sp>
        <p:nvSpPr>
          <p:cNvPr id="9" name="TextBox 8"/>
          <p:cNvSpPr txBox="1"/>
          <p:nvPr/>
        </p:nvSpPr>
        <p:spPr>
          <a:xfrm>
            <a:off x="6772275" y="1909762"/>
            <a:ext cx="4680585" cy="323165"/>
          </a:xfrm>
          <a:prstGeom prst="rect">
            <a:avLst/>
          </a:prstGeom>
          <a:noFill/>
        </p:spPr>
        <p:txBody>
          <a:bodyPr wrap="square" lIns="0" tIns="0" rIns="0" bIns="0" anchor="t">
            <a:spAutoFit/>
          </a:bodyPr>
          <a:lstStyle/>
          <a:p>
            <a:pPr algn="just"/>
            <a:r>
              <a:rPr sz="2100" b="1" i="0" u="none">
                <a:solidFill>
                  <a:srgbClr val="1D4ED8"/>
                </a:solidFill>
                <a:latin typeface="Times New Roman" panose="02020603050405020304" pitchFamily="18" charset="0"/>
                <a:cs typeface="Times New Roman" panose="02020603050405020304" pitchFamily="18" charset="0"/>
              </a:rPr>
              <a:t>Lớp Xử Lý &amp; Thiết Bị (Backend/IoT)</a:t>
            </a:r>
          </a:p>
        </p:txBody>
      </p:sp>
      <p:sp>
        <p:nvSpPr>
          <p:cNvPr id="10" name="TextBox 9"/>
          <p:cNvSpPr txBox="1"/>
          <p:nvPr/>
        </p:nvSpPr>
        <p:spPr>
          <a:xfrm>
            <a:off x="6772275" y="2452687"/>
            <a:ext cx="4234880"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Xử lý logic nghiệp vụ, cơ sở dữ liệu và tương tác với thiết bị phần cứng.</a:t>
            </a:r>
          </a:p>
        </p:txBody>
      </p:sp>
      <p:sp>
        <p:nvSpPr>
          <p:cNvPr id="11" name="TextBox 10"/>
          <p:cNvSpPr txBox="1"/>
          <p:nvPr/>
        </p:nvSpPr>
        <p:spPr>
          <a:xfrm>
            <a:off x="1247775" y="3237942"/>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App Nhân Viên (Android):</a:t>
            </a:r>
            <a:r>
              <a:rPr sz="1500" b="0" i="0" u="none">
                <a:latin typeface="Times New Roman" panose="02020603050405020304" pitchFamily="18" charset="0"/>
                <a:cs typeface="Times New Roman" panose="02020603050405020304" pitchFamily="18" charset="0"/>
              </a:rPr>
              <a:t> Quét NFC, chụp ảnh và xử lý AI biển số tại chỗ.</a:t>
            </a:r>
          </a:p>
        </p:txBody>
      </p:sp>
      <p:sp>
        <p:nvSpPr>
          <p:cNvPr id="12" name="TextBox 11"/>
          <p:cNvSpPr txBox="1"/>
          <p:nvPr/>
        </p:nvSpPr>
        <p:spPr>
          <a:xfrm>
            <a:off x="1247775" y="4052887"/>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App Khách Hàng (Android):</a:t>
            </a:r>
            <a:r>
              <a:rPr sz="1500" b="0" i="0" u="none">
                <a:latin typeface="Times New Roman" panose="02020603050405020304" pitchFamily="18" charset="0"/>
                <a:cs typeface="Times New Roman" panose="02020603050405020304" pitchFamily="18" charset="0"/>
              </a:rPr>
              <a:t> Hiển thị mã thẻ NFC ảo (HCE), lịch sử gửi xe, ví điện tử.</a:t>
            </a:r>
          </a:p>
        </p:txBody>
      </p:sp>
      <p:sp>
        <p:nvSpPr>
          <p:cNvPr id="13" name="TextBox 12"/>
          <p:cNvSpPr txBox="1"/>
          <p:nvPr/>
        </p:nvSpPr>
        <p:spPr>
          <a:xfrm>
            <a:off x="1247775" y="4852987"/>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Web Dashboard:</a:t>
            </a:r>
            <a:r>
              <a:rPr sz="1500" b="0" i="0" u="none">
                <a:latin typeface="Times New Roman" panose="02020603050405020304" pitchFamily="18" charset="0"/>
                <a:cs typeface="Times New Roman" panose="02020603050405020304" pitchFamily="18" charset="0"/>
              </a:rPr>
              <a:t> Trang quản trị tập trung dành cho Admin để xem thống kê, quản lý người dùng.</a:t>
            </a:r>
          </a:p>
        </p:txBody>
      </p:sp>
      <p:sp>
        <p:nvSpPr>
          <p:cNvPr id="14" name="TextBox 13"/>
          <p:cNvSpPr txBox="1"/>
          <p:nvPr/>
        </p:nvSpPr>
        <p:spPr>
          <a:xfrm>
            <a:off x="7058025" y="3237942"/>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Node.js Server:</a:t>
            </a:r>
            <a:r>
              <a:rPr sz="1500" b="0" i="0" u="none">
                <a:latin typeface="Times New Roman" panose="02020603050405020304" pitchFamily="18" charset="0"/>
                <a:cs typeface="Times New Roman" panose="02020603050405020304" pitchFamily="18" charset="0"/>
              </a:rPr>
              <a:t> Xử lý API, xác thực dữ liệu và làm cầu nối MQTT Broker.</a:t>
            </a:r>
          </a:p>
        </p:txBody>
      </p:sp>
      <p:sp>
        <p:nvSpPr>
          <p:cNvPr id="15" name="TextBox 14"/>
          <p:cNvSpPr txBox="1"/>
          <p:nvPr/>
        </p:nvSpPr>
        <p:spPr>
          <a:xfrm>
            <a:off x="7058025" y="4052887"/>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Cơ sở dữ liệu SQLite:</a:t>
            </a:r>
            <a:r>
              <a:rPr sz="1500" b="0" i="0" u="none">
                <a:latin typeface="Times New Roman" panose="02020603050405020304" pitchFamily="18" charset="0"/>
                <a:cs typeface="Times New Roman" panose="02020603050405020304" pitchFamily="18" charset="0"/>
              </a:rPr>
              <a:t> Lưu trữ tinh gọn thông tin khách hàng, lịch sử ra vào.</a:t>
            </a:r>
          </a:p>
        </p:txBody>
      </p:sp>
      <p:sp>
        <p:nvSpPr>
          <p:cNvPr id="16" name="TextBox 15"/>
          <p:cNvSpPr txBox="1"/>
          <p:nvPr/>
        </p:nvSpPr>
        <p:spPr>
          <a:xfrm>
            <a:off x="7058025" y="4852987"/>
            <a:ext cx="3963413"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Vi điều khiển ESP32:</a:t>
            </a:r>
            <a:r>
              <a:rPr sz="1500" b="0" i="0" u="none">
                <a:latin typeface="Times New Roman" panose="02020603050405020304" pitchFamily="18" charset="0"/>
                <a:cs typeface="Times New Roman" panose="02020603050405020304" pitchFamily="18" charset="0"/>
              </a:rPr>
              <a:t> Nhận lệnh đóng/mở Barrier từ Server qua Wifi và điều khiển servo.</a:t>
            </a:r>
          </a:p>
        </p:txBody>
      </p:sp>
      <p:sp>
        <p:nvSpPr>
          <p:cNvPr id="17" name="TextBox 16"/>
          <p:cNvSpPr txBox="1"/>
          <p:nvPr/>
        </p:nvSpPr>
        <p:spPr>
          <a:xfrm>
            <a:off x="962025" y="32718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8" name="TextBox 17"/>
          <p:cNvSpPr txBox="1"/>
          <p:nvPr/>
        </p:nvSpPr>
        <p:spPr>
          <a:xfrm>
            <a:off x="962025" y="40719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9" name="TextBox 18"/>
          <p:cNvSpPr txBox="1"/>
          <p:nvPr/>
        </p:nvSpPr>
        <p:spPr>
          <a:xfrm>
            <a:off x="962025" y="48720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0" name="TextBox 19"/>
          <p:cNvSpPr txBox="1"/>
          <p:nvPr/>
        </p:nvSpPr>
        <p:spPr>
          <a:xfrm>
            <a:off x="6772275" y="32718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1" name="TextBox 20"/>
          <p:cNvSpPr txBox="1"/>
          <p:nvPr/>
        </p:nvSpPr>
        <p:spPr>
          <a:xfrm>
            <a:off x="6763358" y="40719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2" name="TextBox 21"/>
          <p:cNvSpPr txBox="1"/>
          <p:nvPr/>
        </p:nvSpPr>
        <p:spPr>
          <a:xfrm>
            <a:off x="6772275" y="4872037"/>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5ADC086B-F9D1-50A5-FF1E-8DEB34A93062}"/>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201B156A-A9D3-4B8E-A402-210A53418F70}"/>
              </a:ext>
            </a:extLst>
          </p:cNvPr>
          <p:cNvPicPr>
            <a:picLocks noChangeAspect="1"/>
          </p:cNvPicPr>
          <p:nvPr/>
        </p:nvPicPr>
        <p:blipFill>
          <a:blip r:embed="rId2"/>
          <a:stretch>
            <a:fillRect/>
          </a:stretch>
        </p:blipFill>
        <p:spPr>
          <a:xfrm>
            <a:off x="571500" y="1519237"/>
            <a:ext cx="5238750" cy="4924425"/>
          </a:xfrm>
          <a:prstGeom prst="rect">
            <a:avLst/>
          </a:prstGeom>
        </p:spPr>
      </p:pic>
      <p:pic>
        <p:nvPicPr>
          <p:cNvPr id="4" name="Picture 3" descr="image.png">
            <a:extLst>
              <a:ext uri="{FF2B5EF4-FFF2-40B4-BE49-F238E27FC236}">
                <a16:creationId xmlns:a16="http://schemas.microsoft.com/office/drawing/2014/main" id="{DAE363BD-64ED-4C3F-6DA7-2E883E36FDD5}"/>
              </a:ext>
            </a:extLst>
          </p:cNvPr>
          <p:cNvPicPr>
            <a:picLocks noChangeAspect="1"/>
          </p:cNvPicPr>
          <p:nvPr/>
        </p:nvPicPr>
        <p:blipFill>
          <a:blip r:embed="rId3"/>
          <a:stretch>
            <a:fillRect/>
          </a:stretch>
        </p:blipFill>
        <p:spPr>
          <a:xfrm>
            <a:off x="6381750" y="1519237"/>
            <a:ext cx="5238750" cy="4924425"/>
          </a:xfrm>
          <a:prstGeom prst="rect">
            <a:avLst/>
          </a:prstGeom>
        </p:spPr>
      </p:pic>
      <p:sp>
        <p:nvSpPr>
          <p:cNvPr id="5" name="TextBox 4">
            <a:extLst>
              <a:ext uri="{FF2B5EF4-FFF2-40B4-BE49-F238E27FC236}">
                <a16:creationId xmlns:a16="http://schemas.microsoft.com/office/drawing/2014/main" id="{80E01020-527F-8F7A-D91E-2CEBBBC4A5B4}"/>
              </a:ext>
            </a:extLst>
          </p:cNvPr>
          <p:cNvSpPr txBox="1"/>
          <p:nvPr/>
        </p:nvSpPr>
        <p:spPr>
          <a:xfrm>
            <a:off x="571500" y="414337"/>
            <a:ext cx="11601450" cy="484748"/>
          </a:xfrm>
          <a:prstGeom prst="rect">
            <a:avLst/>
          </a:prstGeom>
          <a:noFill/>
        </p:spPr>
        <p:txBody>
          <a:bodyPr wrap="square" lIns="0" tIns="0" rIns="0" bIns="0" anchor="t">
            <a:spAutoFit/>
          </a:bodyPr>
          <a:lstStyle/>
          <a:p>
            <a:pPr algn="l"/>
            <a:r>
              <a:rPr lang="vi-VN" sz="3150" b="1" i="0" u="none">
                <a:solidFill>
                  <a:srgbClr val="1E3A8A"/>
                </a:solidFill>
                <a:latin typeface="Times New Roman" panose="02020603050405020304" pitchFamily="18" charset="0"/>
                <a:cs typeface="Times New Roman" panose="02020603050405020304" pitchFamily="18" charset="0"/>
              </a:rPr>
              <a:t>Sơ đồ kiến trúc &amp; luồng dữ liệu</a:t>
            </a:r>
          </a:p>
        </p:txBody>
      </p:sp>
      <p:sp>
        <p:nvSpPr>
          <p:cNvPr id="6" name="Rectangle 5">
            <a:extLst>
              <a:ext uri="{FF2B5EF4-FFF2-40B4-BE49-F238E27FC236}">
                <a16:creationId xmlns:a16="http://schemas.microsoft.com/office/drawing/2014/main" id="{1AEEEF21-FB8E-612F-A1BE-009EC962B0CD}"/>
              </a:ext>
            </a:extLst>
          </p:cNvPr>
          <p:cNvSpPr/>
          <p:nvPr/>
        </p:nvSpPr>
        <p:spPr>
          <a:xfrm>
            <a:off x="571500" y="1109662"/>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ABD84A5-B77A-4E31-2FA0-B80F8427FE0E}"/>
              </a:ext>
            </a:extLst>
          </p:cNvPr>
          <p:cNvSpPr txBox="1"/>
          <p:nvPr/>
        </p:nvSpPr>
        <p:spPr>
          <a:xfrm>
            <a:off x="962025" y="1909762"/>
            <a:ext cx="4680585" cy="323165"/>
          </a:xfrm>
          <a:prstGeom prst="rect">
            <a:avLst/>
          </a:prstGeom>
          <a:noFill/>
        </p:spPr>
        <p:txBody>
          <a:bodyPr wrap="square" lIns="0" tIns="0" rIns="0" bIns="0" anchor="t">
            <a:spAutoFit/>
          </a:bodyPr>
          <a:lstStyle/>
          <a:p>
            <a:pPr algn="just"/>
            <a:r>
              <a:rPr lang="en-US" sz="2100" b="1" i="0" u="none">
                <a:solidFill>
                  <a:srgbClr val="1D4ED8"/>
                </a:solidFill>
                <a:latin typeface="Times New Roman" panose="02020603050405020304" pitchFamily="18" charset="0"/>
                <a:cs typeface="Times New Roman" panose="02020603050405020304" pitchFamily="18" charset="0"/>
              </a:rPr>
              <a:t>Khối Xử lý Biên (Edge - Mobile App)</a:t>
            </a:r>
          </a:p>
        </p:txBody>
      </p:sp>
      <p:sp>
        <p:nvSpPr>
          <p:cNvPr id="9" name="TextBox 8">
            <a:extLst>
              <a:ext uri="{FF2B5EF4-FFF2-40B4-BE49-F238E27FC236}">
                <a16:creationId xmlns:a16="http://schemas.microsoft.com/office/drawing/2014/main" id="{AFE98BC4-A6F6-E85B-D0F4-400D05B1767C}"/>
              </a:ext>
            </a:extLst>
          </p:cNvPr>
          <p:cNvSpPr txBox="1"/>
          <p:nvPr/>
        </p:nvSpPr>
        <p:spPr>
          <a:xfrm>
            <a:off x="6660832" y="1909762"/>
            <a:ext cx="4680585" cy="323165"/>
          </a:xfrm>
          <a:prstGeom prst="rect">
            <a:avLst/>
          </a:prstGeom>
          <a:noFill/>
        </p:spPr>
        <p:txBody>
          <a:bodyPr wrap="square" lIns="0" tIns="0" rIns="0" bIns="0" anchor="t">
            <a:spAutoFit/>
          </a:bodyPr>
          <a:lstStyle/>
          <a:p>
            <a:pPr algn="just"/>
            <a:r>
              <a:rPr lang="en-US" sz="2100" b="1" i="0" u="none">
                <a:solidFill>
                  <a:srgbClr val="1D4ED8"/>
                </a:solidFill>
                <a:latin typeface="Times New Roman" panose="02020603050405020304" pitchFamily="18" charset="0"/>
                <a:cs typeface="Times New Roman" panose="02020603050405020304" pitchFamily="18" charset="0"/>
              </a:rPr>
              <a:t>Khối Chấp hành (Hardware - ESP32)</a:t>
            </a:r>
            <a:endParaRPr sz="2100" b="1" i="0" u="none">
              <a:solidFill>
                <a:srgbClr val="1D4ED8"/>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8C7F1F9-D8F9-705D-EFAA-FEC7B2E5F52A}"/>
              </a:ext>
            </a:extLst>
          </p:cNvPr>
          <p:cNvSpPr txBox="1"/>
          <p:nvPr/>
        </p:nvSpPr>
        <p:spPr>
          <a:xfrm>
            <a:off x="1247775" y="2483301"/>
            <a:ext cx="3963413" cy="583686"/>
          </a:xfrm>
          <a:prstGeom prst="rect">
            <a:avLst/>
          </a:prstGeom>
          <a:noFill/>
        </p:spPr>
        <p:txBody>
          <a:bodyPr wrap="square" lIns="0" tIns="0" rIns="0" bIns="0" anchor="t">
            <a:spAutoFit/>
          </a:bodyPr>
          <a:lstStyle/>
          <a:p>
            <a:pPr algn="just">
              <a:lnSpc>
                <a:spcPts val="2400"/>
              </a:lnSpc>
            </a:pPr>
            <a:r>
              <a:rPr lang="en-US" sz="1500" i="0" u="none">
                <a:latin typeface="Times New Roman" panose="02020603050405020304" pitchFamily="18" charset="0"/>
                <a:cs typeface="Times New Roman" panose="02020603050405020304" pitchFamily="18" charset="0"/>
              </a:rPr>
              <a:t>Module Camera (Quét ML Kit xử lý nhận diện biển số tại chỗ).</a:t>
            </a:r>
          </a:p>
        </p:txBody>
      </p:sp>
      <p:sp>
        <p:nvSpPr>
          <p:cNvPr id="12" name="TextBox 11">
            <a:extLst>
              <a:ext uri="{FF2B5EF4-FFF2-40B4-BE49-F238E27FC236}">
                <a16:creationId xmlns:a16="http://schemas.microsoft.com/office/drawing/2014/main" id="{BF1E2184-6459-803F-01EF-DEE9F488282D}"/>
              </a:ext>
            </a:extLst>
          </p:cNvPr>
          <p:cNvSpPr txBox="1"/>
          <p:nvPr/>
        </p:nvSpPr>
        <p:spPr>
          <a:xfrm>
            <a:off x="1247775" y="3317361"/>
            <a:ext cx="3963413" cy="275909"/>
          </a:xfrm>
          <a:prstGeom prst="rect">
            <a:avLst/>
          </a:prstGeom>
          <a:noFill/>
        </p:spPr>
        <p:txBody>
          <a:bodyPr wrap="square" lIns="0" tIns="0" rIns="0" bIns="0" anchor="t">
            <a:spAutoFit/>
          </a:bodyPr>
          <a:lstStyle/>
          <a:p>
            <a:pPr algn="just">
              <a:lnSpc>
                <a:spcPts val="2400"/>
              </a:lnSpc>
            </a:pPr>
            <a:r>
              <a:rPr lang="en-US" sz="1500" i="0" u="none">
                <a:latin typeface="Times New Roman" panose="02020603050405020304" pitchFamily="18" charset="0"/>
                <a:cs typeface="Times New Roman" panose="02020603050405020304" pitchFamily="18" charset="0"/>
              </a:rPr>
              <a:t>Module NFC HCE (Giả lập thẻ định danh từ xa).</a:t>
            </a:r>
          </a:p>
        </p:txBody>
      </p:sp>
      <p:sp>
        <p:nvSpPr>
          <p:cNvPr id="14" name="TextBox 13">
            <a:extLst>
              <a:ext uri="{FF2B5EF4-FFF2-40B4-BE49-F238E27FC236}">
                <a16:creationId xmlns:a16="http://schemas.microsoft.com/office/drawing/2014/main" id="{33072B10-F34D-BC8C-A600-6B73F7E98073}"/>
              </a:ext>
            </a:extLst>
          </p:cNvPr>
          <p:cNvSpPr txBox="1"/>
          <p:nvPr/>
        </p:nvSpPr>
        <p:spPr>
          <a:xfrm>
            <a:off x="6943725" y="2523926"/>
            <a:ext cx="4394835" cy="583686"/>
          </a:xfrm>
          <a:prstGeom prst="rect">
            <a:avLst/>
          </a:prstGeom>
          <a:noFill/>
        </p:spPr>
        <p:txBody>
          <a:bodyPr wrap="square" lIns="0" tIns="0" rIns="0" bIns="0" anchor="t">
            <a:spAutoFit/>
          </a:bodyPr>
          <a:lstStyle/>
          <a:p>
            <a:pPr algn="just">
              <a:lnSpc>
                <a:spcPts val="2400"/>
              </a:lnSpc>
            </a:pPr>
            <a:r>
              <a:rPr lang="en-US" sz="1500" i="0" u="none">
                <a:latin typeface="Times New Roman" panose="02020603050405020304" pitchFamily="18" charset="0"/>
                <a:cs typeface="Times New Roman" panose="02020603050405020304" pitchFamily="18" charset="0"/>
              </a:rPr>
              <a:t>ESP32 nhận lệnh điều khiển từ Cloud qua Wi-Fi/MQTT.</a:t>
            </a:r>
          </a:p>
          <a:p>
            <a:pPr algn="just">
              <a:lnSpc>
                <a:spcPts val="2400"/>
              </a:lnSpc>
            </a:pPr>
            <a:endParaRPr lang="en-US" sz="1500" i="0" u="none">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2D0F3D7-1EBF-DC81-5572-CAA55B9374F4}"/>
              </a:ext>
            </a:extLst>
          </p:cNvPr>
          <p:cNvSpPr txBox="1"/>
          <p:nvPr/>
        </p:nvSpPr>
        <p:spPr>
          <a:xfrm>
            <a:off x="6943725" y="3338871"/>
            <a:ext cx="4394835" cy="583686"/>
          </a:xfrm>
          <a:prstGeom prst="rect">
            <a:avLst/>
          </a:prstGeom>
          <a:noFill/>
        </p:spPr>
        <p:txBody>
          <a:bodyPr wrap="square" lIns="0" tIns="0" rIns="0" bIns="0" anchor="t">
            <a:spAutoFit/>
          </a:bodyPr>
          <a:lstStyle/>
          <a:p>
            <a:pPr algn="just">
              <a:lnSpc>
                <a:spcPts val="2400"/>
              </a:lnSpc>
            </a:pPr>
            <a:r>
              <a:rPr lang="vi-VN" sz="1500" i="0" u="none">
                <a:latin typeface="Times New Roman" panose="02020603050405020304" pitchFamily="18" charset="0"/>
                <a:cs typeface="Times New Roman" panose="02020603050405020304" pitchFamily="18" charset="0"/>
              </a:rPr>
              <a:t>Điều khiển Động cơ Servo/Relay (Đóng/Mở Barie).</a:t>
            </a:r>
          </a:p>
          <a:p>
            <a:pPr algn="just">
              <a:lnSpc>
                <a:spcPts val="2400"/>
              </a:lnSpc>
            </a:pPr>
            <a:endParaRPr lang="vi-VN" sz="1500" i="0" u="none">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4CABCD9-7EC9-E1C9-58AA-522229188D1A}"/>
              </a:ext>
            </a:extLst>
          </p:cNvPr>
          <p:cNvSpPr txBox="1"/>
          <p:nvPr/>
        </p:nvSpPr>
        <p:spPr>
          <a:xfrm>
            <a:off x="6943725" y="4138971"/>
            <a:ext cx="4394835" cy="275909"/>
          </a:xfrm>
          <a:prstGeom prst="rect">
            <a:avLst/>
          </a:prstGeom>
          <a:noFill/>
        </p:spPr>
        <p:txBody>
          <a:bodyPr wrap="square" lIns="0" tIns="0" rIns="0" bIns="0" anchor="t">
            <a:spAutoFit/>
          </a:bodyPr>
          <a:lstStyle/>
          <a:p>
            <a:pPr algn="just">
              <a:lnSpc>
                <a:spcPts val="2400"/>
              </a:lnSpc>
            </a:pPr>
            <a:r>
              <a:rPr lang="en-US" sz="1500" i="0" u="none">
                <a:latin typeface="Times New Roman" panose="02020603050405020304" pitchFamily="18" charset="0"/>
                <a:cs typeface="Times New Roman" panose="02020603050405020304" pitchFamily="18" charset="0"/>
              </a:rPr>
              <a:t>Màn hình LCD/Còi báo hiệu trạng thái.</a:t>
            </a:r>
          </a:p>
        </p:txBody>
      </p:sp>
      <p:sp>
        <p:nvSpPr>
          <p:cNvPr id="17" name="TextBox 16">
            <a:extLst>
              <a:ext uri="{FF2B5EF4-FFF2-40B4-BE49-F238E27FC236}">
                <a16:creationId xmlns:a16="http://schemas.microsoft.com/office/drawing/2014/main" id="{3AFD59FE-57F8-140B-335E-B57EB97531EC}"/>
              </a:ext>
            </a:extLst>
          </p:cNvPr>
          <p:cNvSpPr txBox="1"/>
          <p:nvPr/>
        </p:nvSpPr>
        <p:spPr>
          <a:xfrm>
            <a:off x="962024" y="2491444"/>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8" name="TextBox 17">
            <a:extLst>
              <a:ext uri="{FF2B5EF4-FFF2-40B4-BE49-F238E27FC236}">
                <a16:creationId xmlns:a16="http://schemas.microsoft.com/office/drawing/2014/main" id="{599A4848-0678-88D9-FE7C-A8EBB9AA8E68}"/>
              </a:ext>
            </a:extLst>
          </p:cNvPr>
          <p:cNvSpPr txBox="1"/>
          <p:nvPr/>
        </p:nvSpPr>
        <p:spPr>
          <a:xfrm>
            <a:off x="962025" y="3325239"/>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0" name="TextBox 19">
            <a:extLst>
              <a:ext uri="{FF2B5EF4-FFF2-40B4-BE49-F238E27FC236}">
                <a16:creationId xmlns:a16="http://schemas.microsoft.com/office/drawing/2014/main" id="{76B66A82-0BD0-345C-FDB1-69CCFA90A2B7}"/>
              </a:ext>
            </a:extLst>
          </p:cNvPr>
          <p:cNvSpPr txBox="1"/>
          <p:nvPr/>
        </p:nvSpPr>
        <p:spPr>
          <a:xfrm>
            <a:off x="6657975" y="2557821"/>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1" name="TextBox 20">
            <a:extLst>
              <a:ext uri="{FF2B5EF4-FFF2-40B4-BE49-F238E27FC236}">
                <a16:creationId xmlns:a16="http://schemas.microsoft.com/office/drawing/2014/main" id="{E3C3EA61-7A4C-17FB-7E87-B444BB9FE9CE}"/>
              </a:ext>
            </a:extLst>
          </p:cNvPr>
          <p:cNvSpPr txBox="1"/>
          <p:nvPr/>
        </p:nvSpPr>
        <p:spPr>
          <a:xfrm>
            <a:off x="6649058" y="3357921"/>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2" name="TextBox 21">
            <a:extLst>
              <a:ext uri="{FF2B5EF4-FFF2-40B4-BE49-F238E27FC236}">
                <a16:creationId xmlns:a16="http://schemas.microsoft.com/office/drawing/2014/main" id="{BADB7C8C-8D31-11E3-EF0B-CD5D21AD1662}"/>
              </a:ext>
            </a:extLst>
          </p:cNvPr>
          <p:cNvSpPr txBox="1"/>
          <p:nvPr/>
        </p:nvSpPr>
        <p:spPr>
          <a:xfrm>
            <a:off x="6657975" y="4158021"/>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3" name="TextBox 22">
            <a:extLst>
              <a:ext uri="{FF2B5EF4-FFF2-40B4-BE49-F238E27FC236}">
                <a16:creationId xmlns:a16="http://schemas.microsoft.com/office/drawing/2014/main" id="{954792E4-7483-B711-9C3D-C8B2CB22167F}"/>
              </a:ext>
            </a:extLst>
          </p:cNvPr>
          <p:cNvSpPr txBox="1"/>
          <p:nvPr/>
        </p:nvSpPr>
        <p:spPr>
          <a:xfrm>
            <a:off x="1247775" y="4665247"/>
            <a:ext cx="3963413" cy="275909"/>
          </a:xfrm>
          <a:prstGeom prst="rect">
            <a:avLst/>
          </a:prstGeom>
          <a:noFill/>
        </p:spPr>
        <p:txBody>
          <a:bodyPr wrap="square" lIns="0" tIns="0" rIns="0" bIns="0" anchor="t">
            <a:spAutoFit/>
          </a:bodyPr>
          <a:lstStyle/>
          <a:p>
            <a:pPr algn="just">
              <a:lnSpc>
                <a:spcPts val="2400"/>
              </a:lnSpc>
            </a:pPr>
            <a:r>
              <a:rPr lang="en-US" sz="1500" i="0" u="none">
                <a:latin typeface="Times New Roman" panose="02020603050405020304" pitchFamily="18" charset="0"/>
                <a:cs typeface="Times New Roman" panose="02020603050405020304" pitchFamily="18" charset="0"/>
              </a:rPr>
              <a:t>Firebase Realtime Database / Server.</a:t>
            </a:r>
          </a:p>
        </p:txBody>
      </p:sp>
      <p:sp>
        <p:nvSpPr>
          <p:cNvPr id="24" name="TextBox 23">
            <a:extLst>
              <a:ext uri="{FF2B5EF4-FFF2-40B4-BE49-F238E27FC236}">
                <a16:creationId xmlns:a16="http://schemas.microsoft.com/office/drawing/2014/main" id="{A68FC99E-9570-D3CE-4147-2DFFE232594C}"/>
              </a:ext>
            </a:extLst>
          </p:cNvPr>
          <p:cNvSpPr txBox="1"/>
          <p:nvPr/>
        </p:nvSpPr>
        <p:spPr>
          <a:xfrm>
            <a:off x="1247775" y="5176939"/>
            <a:ext cx="3963413" cy="583686"/>
          </a:xfrm>
          <a:prstGeom prst="rect">
            <a:avLst/>
          </a:prstGeom>
          <a:noFill/>
        </p:spPr>
        <p:txBody>
          <a:bodyPr wrap="square" lIns="0" tIns="0" rIns="0" bIns="0" anchor="t">
            <a:spAutoFit/>
          </a:bodyPr>
          <a:lstStyle/>
          <a:p>
            <a:pPr algn="just">
              <a:lnSpc>
                <a:spcPts val="2400"/>
              </a:lnSpc>
            </a:pPr>
            <a:r>
              <a:rPr lang="vi-VN" sz="1500" i="0" u="none">
                <a:latin typeface="Times New Roman" panose="02020603050405020304" pitchFamily="18" charset="0"/>
                <a:cs typeface="Times New Roman" panose="02020603050405020304" pitchFamily="18" charset="0"/>
              </a:rPr>
              <a:t>Lưu trữ dữ liệu: Thời gian vào/ra, Biển số, ID Người dùng, Hình ảnh.</a:t>
            </a:r>
          </a:p>
        </p:txBody>
      </p:sp>
      <p:sp>
        <p:nvSpPr>
          <p:cNvPr id="25" name="TextBox 24">
            <a:extLst>
              <a:ext uri="{FF2B5EF4-FFF2-40B4-BE49-F238E27FC236}">
                <a16:creationId xmlns:a16="http://schemas.microsoft.com/office/drawing/2014/main" id="{D91F55B7-5607-9A26-9F52-25D97BBA9D85}"/>
              </a:ext>
            </a:extLst>
          </p:cNvPr>
          <p:cNvSpPr txBox="1"/>
          <p:nvPr/>
        </p:nvSpPr>
        <p:spPr>
          <a:xfrm>
            <a:off x="955832" y="4688949"/>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6" name="TextBox 25">
            <a:extLst>
              <a:ext uri="{FF2B5EF4-FFF2-40B4-BE49-F238E27FC236}">
                <a16:creationId xmlns:a16="http://schemas.microsoft.com/office/drawing/2014/main" id="{E04B4660-2FBD-7DA2-011C-3FAA078740AF}"/>
              </a:ext>
            </a:extLst>
          </p:cNvPr>
          <p:cNvSpPr txBox="1"/>
          <p:nvPr/>
        </p:nvSpPr>
        <p:spPr>
          <a:xfrm>
            <a:off x="962025" y="5195989"/>
            <a:ext cx="90489"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27" name="TextBox 26">
            <a:extLst>
              <a:ext uri="{FF2B5EF4-FFF2-40B4-BE49-F238E27FC236}">
                <a16:creationId xmlns:a16="http://schemas.microsoft.com/office/drawing/2014/main" id="{B0AFB9F8-E7D3-0AFA-1FD5-32228C26CB95}"/>
              </a:ext>
            </a:extLst>
          </p:cNvPr>
          <p:cNvSpPr txBox="1"/>
          <p:nvPr/>
        </p:nvSpPr>
        <p:spPr>
          <a:xfrm>
            <a:off x="962025" y="4106300"/>
            <a:ext cx="4680585" cy="323165"/>
          </a:xfrm>
          <a:prstGeom prst="rect">
            <a:avLst/>
          </a:prstGeom>
          <a:noFill/>
        </p:spPr>
        <p:txBody>
          <a:bodyPr wrap="square" lIns="0" tIns="0" rIns="0" bIns="0" anchor="t">
            <a:spAutoFit/>
          </a:bodyPr>
          <a:lstStyle/>
          <a:p>
            <a:pPr algn="just"/>
            <a:r>
              <a:rPr lang="en-US" sz="2100" b="1" i="0" u="none">
                <a:solidFill>
                  <a:srgbClr val="1D4ED8"/>
                </a:solidFill>
                <a:latin typeface="Times New Roman" panose="02020603050405020304" pitchFamily="18" charset="0"/>
                <a:cs typeface="Times New Roman" panose="02020603050405020304" pitchFamily="18" charset="0"/>
              </a:rPr>
              <a:t>Khối Đám mây (Cloud/Database):</a:t>
            </a:r>
          </a:p>
        </p:txBody>
      </p:sp>
    </p:spTree>
    <p:extLst>
      <p:ext uri="{BB962C8B-B14F-4D97-AF65-F5344CB8AC3E}">
        <p14:creationId xmlns:p14="http://schemas.microsoft.com/office/powerpoint/2010/main" val="2257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046130B2-F44C-AA32-8EC4-D058B173E10C}"/>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16223453-AEBB-6322-C5F0-D1E5F0F22198}"/>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FA3D3C32-D909-C776-0D0C-50D4FEC5552D}"/>
              </a:ext>
            </a:extLst>
          </p:cNvPr>
          <p:cNvSpPr txBox="1"/>
          <p:nvPr/>
        </p:nvSpPr>
        <p:spPr>
          <a:xfrm>
            <a:off x="571500" y="307330"/>
            <a:ext cx="11601450" cy="484748"/>
          </a:xfrm>
          <a:prstGeom prst="rect">
            <a:avLst/>
          </a:prstGeom>
          <a:noFill/>
        </p:spPr>
        <p:txBody>
          <a:bodyPr wrap="square" lIns="0" tIns="0" rIns="0" bIns="0" anchor="t">
            <a:spAutoFit/>
          </a:bodyPr>
          <a:lstStyle/>
          <a:p>
            <a:r>
              <a:rPr lang="vi-VN" sz="3150" b="1">
                <a:solidFill>
                  <a:srgbClr val="1E3A8A"/>
                </a:solidFill>
                <a:latin typeface="Times New Roman" panose="02020603050405020304" pitchFamily="18" charset="0"/>
                <a:cs typeface="Times New Roman" panose="02020603050405020304" pitchFamily="18" charset="0"/>
              </a:rPr>
              <a:t>Sơ đồ kiến trúc &amp; luồng dữ liệu</a:t>
            </a:r>
          </a:p>
        </p:txBody>
      </p:sp>
      <p:sp>
        <p:nvSpPr>
          <p:cNvPr id="6" name="Rectangle 5">
            <a:extLst>
              <a:ext uri="{FF2B5EF4-FFF2-40B4-BE49-F238E27FC236}">
                <a16:creationId xmlns:a16="http://schemas.microsoft.com/office/drawing/2014/main" id="{ACC0588F-A604-949E-7358-7F8742556BEE}"/>
              </a:ext>
            </a:extLst>
          </p:cNvPr>
          <p:cNvSpPr/>
          <p:nvPr/>
        </p:nvSpPr>
        <p:spPr>
          <a:xfrm>
            <a:off x="571500" y="100265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97483C03-B472-D9F0-623D-2EAF2C6278C9}"/>
              </a:ext>
            </a:extLst>
          </p:cNvPr>
          <p:cNvPicPr>
            <a:picLocks noChangeAspect="1"/>
          </p:cNvPicPr>
          <p:nvPr/>
        </p:nvPicPr>
        <p:blipFill>
          <a:blip r:embed="rId3"/>
          <a:srcRect b="6875"/>
          <a:stretch>
            <a:fillRect/>
          </a:stretch>
        </p:blipFill>
        <p:spPr>
          <a:xfrm>
            <a:off x="1406052" y="1031229"/>
            <a:ext cx="9379896" cy="5823353"/>
          </a:xfrm>
          <a:prstGeom prst="rect">
            <a:avLst/>
          </a:prstGeom>
        </p:spPr>
      </p:pic>
    </p:spTree>
    <p:extLst>
      <p:ext uri="{BB962C8B-B14F-4D97-AF65-F5344CB8AC3E}">
        <p14:creationId xmlns:p14="http://schemas.microsoft.com/office/powerpoint/2010/main" val="3299407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44F1377-97F5-A6B5-ADDB-32D3CEA42836}"/>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A15319E3-26E8-B6FC-E06B-1DA58CEED9A8}"/>
              </a:ext>
            </a:extLst>
          </p:cNvPr>
          <p:cNvPicPr>
            <a:picLocks noChangeAspect="1"/>
          </p:cNvPicPr>
          <p:nvPr/>
        </p:nvPicPr>
        <p:blipFill>
          <a:blip r:embed="rId2"/>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443D8330-4180-8FE9-863F-4E7DD39AE965}"/>
              </a:ext>
            </a:extLst>
          </p:cNvPr>
          <p:cNvSpPr txBox="1"/>
          <p:nvPr/>
        </p:nvSpPr>
        <p:spPr>
          <a:xfrm>
            <a:off x="571500" y="307330"/>
            <a:ext cx="11601450" cy="484748"/>
          </a:xfrm>
          <a:prstGeom prst="rect">
            <a:avLst/>
          </a:prstGeom>
          <a:noFill/>
        </p:spPr>
        <p:txBody>
          <a:bodyPr wrap="square" lIns="0" tIns="0" rIns="0" bIns="0" anchor="t">
            <a:spAutoFit/>
          </a:bodyPr>
          <a:lstStyle/>
          <a:p>
            <a:r>
              <a:rPr lang="en-US" sz="3150" b="1">
                <a:solidFill>
                  <a:srgbClr val="1E3A8A"/>
                </a:solidFill>
                <a:latin typeface="Times New Roman" panose="02020603050405020304" pitchFamily="18" charset="0"/>
                <a:cs typeface="Times New Roman" panose="02020603050405020304" pitchFamily="18" charset="0"/>
              </a:rPr>
              <a:t>Thiết kế sơ đồ lớp</a:t>
            </a:r>
            <a:endParaRPr lang="vi-VN" sz="3150" b="1">
              <a:solidFill>
                <a:srgbClr val="1E3A8A"/>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7878E574-5C22-A4C3-4044-6E2002A2F001}"/>
              </a:ext>
            </a:extLst>
          </p:cNvPr>
          <p:cNvSpPr/>
          <p:nvPr/>
        </p:nvSpPr>
        <p:spPr>
          <a:xfrm>
            <a:off x="571500" y="100265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9EE73D8-437E-C323-6B12-59C9774A793F}"/>
              </a:ext>
            </a:extLst>
          </p:cNvPr>
          <p:cNvPicPr>
            <a:picLocks noChangeAspect="1"/>
          </p:cNvPicPr>
          <p:nvPr/>
        </p:nvPicPr>
        <p:blipFill>
          <a:blip r:embed="rId3"/>
          <a:stretch>
            <a:fillRect/>
          </a:stretch>
        </p:blipFill>
        <p:spPr>
          <a:xfrm>
            <a:off x="276225" y="1023185"/>
            <a:ext cx="11639550" cy="5819775"/>
          </a:xfrm>
          <a:prstGeom prst="rect">
            <a:avLst/>
          </a:prstGeom>
        </p:spPr>
      </p:pic>
    </p:spTree>
    <p:extLst>
      <p:ext uri="{BB962C8B-B14F-4D97-AF65-F5344CB8AC3E}">
        <p14:creationId xmlns:p14="http://schemas.microsoft.com/office/powerpoint/2010/main" val="589886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1E3A8A"/>
                </a:solidFill>
                <a:latin typeface="Times New Roman" panose="02020603050405020304" pitchFamily="18" charset="0"/>
                <a:cs typeface="Times New Roman" panose="02020603050405020304" pitchFamily="18" charset="0"/>
              </a:rPr>
              <a:t>Quy Trình Hoạt Động (Luồng Xe Vào</a:t>
            </a:r>
            <a:r>
              <a:rPr lang="en-US" sz="3150" b="1" i="0" u="none">
                <a:solidFill>
                  <a:srgbClr val="1E3A8A"/>
                </a:solidFill>
                <a:latin typeface="Times New Roman" panose="02020603050405020304" pitchFamily="18" charset="0"/>
                <a:cs typeface="Times New Roman" panose="02020603050405020304" pitchFamily="18" charset="0"/>
              </a:rPr>
              <a:t>/Ra</a:t>
            </a:r>
            <a:r>
              <a:rPr sz="3150" b="1" i="0" u="none">
                <a:solidFill>
                  <a:srgbClr val="1E3A8A"/>
                </a:solidFill>
                <a:latin typeface="Times New Roman" panose="02020603050405020304" pitchFamily="18" charset="0"/>
                <a:cs typeface="Times New Roman" panose="02020603050405020304" pitchFamily="18" charset="0"/>
              </a:rPr>
              <a:t>)</a:t>
            </a:r>
          </a:p>
        </p:txBody>
      </p:sp>
      <p:sp>
        <p:nvSpPr>
          <p:cNvPr id="4" name="Rectangle 3"/>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Rectangle 4"/>
          <p:cNvSpPr/>
          <p:nvPr/>
        </p:nvSpPr>
        <p:spPr>
          <a:xfrm>
            <a:off x="571500" y="3851341"/>
            <a:ext cx="11049000" cy="3810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571500" y="4263149"/>
            <a:ext cx="2430660"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Bước 1: Chạm NFC</a:t>
            </a:r>
          </a:p>
        </p:txBody>
      </p:sp>
      <p:sp>
        <p:nvSpPr>
          <p:cNvPr id="7" name="TextBox 6"/>
          <p:cNvSpPr txBox="1"/>
          <p:nvPr/>
        </p:nvSpPr>
        <p:spPr>
          <a:xfrm>
            <a:off x="571500" y="4806072"/>
            <a:ext cx="2430660" cy="891462"/>
          </a:xfrm>
          <a:prstGeom prst="rect">
            <a:avLst/>
          </a:prstGeom>
          <a:noFill/>
        </p:spPr>
        <p:txBody>
          <a:bodyPr wrap="square" lIns="0" tIns="0" rIns="0" bIns="0" anchor="t">
            <a:spAutoFit/>
          </a:bodyPr>
          <a:lstStyle/>
          <a:p>
            <a:pPr algn="ctr">
              <a:lnSpc>
                <a:spcPts val="2400"/>
              </a:lnSpc>
            </a:pPr>
            <a:r>
              <a:rPr sz="1500" b="0" i="0" u="none">
                <a:latin typeface="Times New Roman" panose="02020603050405020304" pitchFamily="18" charset="0"/>
                <a:cs typeface="Times New Roman" panose="02020603050405020304" pitchFamily="18" charset="0"/>
              </a:rPr>
              <a:t>Khách hàng đưa điện thoại lại gần điện thoại bảo vệ. Hai máy giao tiếp NFC truyền mã UID.</a:t>
            </a:r>
          </a:p>
        </p:txBody>
      </p:sp>
      <p:sp>
        <p:nvSpPr>
          <p:cNvPr id="8" name="TextBox 7"/>
          <p:cNvSpPr txBox="1"/>
          <p:nvPr/>
        </p:nvSpPr>
        <p:spPr>
          <a:xfrm>
            <a:off x="3444180" y="1954044"/>
            <a:ext cx="2430660"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Bước 2: Edge AI</a:t>
            </a:r>
          </a:p>
        </p:txBody>
      </p:sp>
      <p:sp>
        <p:nvSpPr>
          <p:cNvPr id="9" name="TextBox 8"/>
          <p:cNvSpPr txBox="1"/>
          <p:nvPr/>
        </p:nvSpPr>
        <p:spPr>
          <a:xfrm>
            <a:off x="3444180" y="2491939"/>
            <a:ext cx="2430660" cy="891462"/>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Bảo vệ chụp ảnh xe. ML Kit trên máy lập tức bóc tách chuỗi biển số và gán vào mã UID.</a:t>
            </a:r>
          </a:p>
        </p:txBody>
      </p:sp>
      <p:sp>
        <p:nvSpPr>
          <p:cNvPr id="10" name="TextBox 9"/>
          <p:cNvSpPr txBox="1"/>
          <p:nvPr/>
        </p:nvSpPr>
        <p:spPr>
          <a:xfrm>
            <a:off x="6316859" y="4263149"/>
            <a:ext cx="2430661"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Bước 3: Xác </a:t>
            </a:r>
            <a:r>
              <a:rPr lang="en-US" sz="2100" b="1" i="0" u="none">
                <a:solidFill>
                  <a:srgbClr val="1D4ED8"/>
                </a:solidFill>
                <a:latin typeface="Times New Roman" panose="02020603050405020304" pitchFamily="18" charset="0"/>
                <a:cs typeface="Times New Roman" panose="02020603050405020304" pitchFamily="18" charset="0"/>
              </a:rPr>
              <a:t>t</a:t>
            </a:r>
            <a:r>
              <a:rPr sz="2100" b="1" i="0" u="none">
                <a:solidFill>
                  <a:srgbClr val="1D4ED8"/>
                </a:solidFill>
                <a:latin typeface="Times New Roman" panose="02020603050405020304" pitchFamily="18" charset="0"/>
                <a:cs typeface="Times New Roman" panose="02020603050405020304" pitchFamily="18" charset="0"/>
              </a:rPr>
              <a:t>hực</a:t>
            </a:r>
          </a:p>
        </p:txBody>
      </p:sp>
      <p:sp>
        <p:nvSpPr>
          <p:cNvPr id="11" name="TextBox 10"/>
          <p:cNvSpPr txBox="1"/>
          <p:nvPr/>
        </p:nvSpPr>
        <p:spPr>
          <a:xfrm>
            <a:off x="6316860" y="4806072"/>
            <a:ext cx="2430660" cy="914400"/>
          </a:xfrm>
          <a:prstGeom prst="rect">
            <a:avLst/>
          </a:prstGeom>
          <a:noFill/>
        </p:spPr>
        <p:txBody>
          <a:bodyPr wrap="square" lIns="0" tIns="0" rIns="0" bIns="0" anchor="t">
            <a:spAutoFit/>
          </a:bodyPr>
          <a:lstStyle/>
          <a:p>
            <a:pPr algn="ctr">
              <a:lnSpc>
                <a:spcPts val="2400"/>
              </a:lnSpc>
            </a:pPr>
            <a:r>
              <a:rPr sz="1500" b="0" i="0" u="none">
                <a:latin typeface="Times New Roman" panose="02020603050405020304" pitchFamily="18" charset="0"/>
                <a:cs typeface="Times New Roman" panose="02020603050405020304" pitchFamily="18" charset="0"/>
              </a:rPr>
              <a:t>App bảo vệ gửi gói tin (UID + Text Biển số) về Server qua API/MQTT để lưu CSDL.</a:t>
            </a:r>
          </a:p>
        </p:txBody>
      </p:sp>
      <p:sp>
        <p:nvSpPr>
          <p:cNvPr id="12" name="TextBox 11"/>
          <p:cNvSpPr txBox="1"/>
          <p:nvPr/>
        </p:nvSpPr>
        <p:spPr>
          <a:xfrm>
            <a:off x="9189541" y="1954044"/>
            <a:ext cx="2430959" cy="323165"/>
          </a:xfrm>
          <a:prstGeom prst="rect">
            <a:avLst/>
          </a:prstGeom>
          <a:noFill/>
        </p:spPr>
        <p:txBody>
          <a:bodyPr wrap="square" lIns="0" tIns="0" rIns="0" bIns="0" anchor="t">
            <a:spAutoFit/>
          </a:bodyPr>
          <a:lstStyle/>
          <a:p>
            <a:pPr algn="ctr"/>
            <a:r>
              <a:rPr sz="2100" b="1" i="0" u="none">
                <a:solidFill>
                  <a:srgbClr val="1D4ED8"/>
                </a:solidFill>
                <a:latin typeface="Times New Roman" panose="02020603050405020304" pitchFamily="18" charset="0"/>
                <a:cs typeface="Times New Roman" panose="02020603050405020304" pitchFamily="18" charset="0"/>
              </a:rPr>
              <a:t>Bước 4: Mở Barrier</a:t>
            </a:r>
          </a:p>
        </p:txBody>
      </p:sp>
      <p:sp>
        <p:nvSpPr>
          <p:cNvPr id="13" name="TextBox 12"/>
          <p:cNvSpPr txBox="1"/>
          <p:nvPr/>
        </p:nvSpPr>
        <p:spPr>
          <a:xfrm>
            <a:off x="9189541" y="2469001"/>
            <a:ext cx="2430660" cy="914400"/>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Server hợp lệ hóa, bắn lệnh qua MQTT tới ESP32 kích hoạt mở Barrier cho xe vào.</a:t>
            </a:r>
          </a:p>
        </p:txBody>
      </p:sp>
      <p:sp>
        <p:nvSpPr>
          <p:cNvPr id="14" name="Rounded Rectangle 13"/>
          <p:cNvSpPr/>
          <p:nvPr/>
        </p:nvSpPr>
        <p:spPr>
          <a:xfrm>
            <a:off x="1672530" y="3756091"/>
            <a:ext cx="228600" cy="228600"/>
          </a:xfrm>
          <a:prstGeom prst="roundRect">
            <a:avLst>
              <a:gd name="adj" fmla="val 50000"/>
            </a:avLst>
          </a:prstGeom>
          <a:solidFill>
            <a:srgbClr val="F8FAFC"/>
          </a:solidFill>
          <a:ln w="476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Rounded Rectangle 14"/>
          <p:cNvSpPr/>
          <p:nvPr/>
        </p:nvSpPr>
        <p:spPr>
          <a:xfrm>
            <a:off x="4545210" y="3756091"/>
            <a:ext cx="228600" cy="228600"/>
          </a:xfrm>
          <a:prstGeom prst="roundRect">
            <a:avLst>
              <a:gd name="adj" fmla="val 50000"/>
            </a:avLst>
          </a:prstGeom>
          <a:solidFill>
            <a:srgbClr val="F8FAFC"/>
          </a:solidFill>
          <a:ln w="476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Rounded Rectangle 15"/>
          <p:cNvSpPr/>
          <p:nvPr/>
        </p:nvSpPr>
        <p:spPr>
          <a:xfrm>
            <a:off x="7417891" y="3756091"/>
            <a:ext cx="228600" cy="228600"/>
          </a:xfrm>
          <a:prstGeom prst="roundRect">
            <a:avLst>
              <a:gd name="adj" fmla="val 50000"/>
            </a:avLst>
          </a:prstGeom>
          <a:solidFill>
            <a:srgbClr val="F8FAFC"/>
          </a:solidFill>
          <a:ln w="476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Rounded Rectangle 16"/>
          <p:cNvSpPr/>
          <p:nvPr/>
        </p:nvSpPr>
        <p:spPr>
          <a:xfrm>
            <a:off x="10290571" y="3756091"/>
            <a:ext cx="228600" cy="228600"/>
          </a:xfrm>
          <a:prstGeom prst="roundRect">
            <a:avLst>
              <a:gd name="adj" fmla="val 50000"/>
            </a:avLst>
          </a:prstGeom>
          <a:solidFill>
            <a:srgbClr val="F8FAFC"/>
          </a:solidFill>
          <a:ln w="4762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1E3A8A"/>
                </a:solidFill>
                <a:latin typeface="Times New Roman" panose="02020603050405020304" pitchFamily="18" charset="0"/>
                <a:cs typeface="Times New Roman" panose="02020603050405020304" pitchFamily="18" charset="0"/>
              </a:rPr>
              <a:t>Kết Quả Thực Nghiệm Hệ Thống</a:t>
            </a:r>
          </a:p>
        </p:txBody>
      </p:sp>
      <p:sp>
        <p:nvSpPr>
          <p:cNvPr id="4" name="Rectangle 3"/>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571500" y="2835622"/>
            <a:ext cx="4838700" cy="1333500"/>
          </a:xfrm>
          <a:prstGeom prst="rect">
            <a:avLst/>
          </a:prstGeom>
          <a:noFill/>
        </p:spPr>
        <p:txBody>
          <a:bodyPr wrap="square" lIns="0" tIns="0" rIns="0" bIns="0" anchor="t">
            <a:spAutoFit/>
          </a:bodyPr>
          <a:lstStyle/>
          <a:p>
            <a:pPr algn="ctr">
              <a:lnSpc>
                <a:spcPts val="10500"/>
              </a:lnSpc>
            </a:pPr>
            <a:r>
              <a:rPr sz="10500" b="1" i="0" u="none">
                <a:solidFill>
                  <a:srgbClr val="3B82F6"/>
                </a:solidFill>
                <a:latin typeface="Times New Roman" panose="02020603050405020304" pitchFamily="18" charset="0"/>
                <a:cs typeface="Times New Roman" panose="02020603050405020304" pitchFamily="18" charset="0"/>
              </a:rPr>
              <a:t>92%</a:t>
            </a:r>
          </a:p>
        </p:txBody>
      </p:sp>
      <p:sp>
        <p:nvSpPr>
          <p:cNvPr id="6" name="TextBox 5"/>
          <p:cNvSpPr txBox="1"/>
          <p:nvPr/>
        </p:nvSpPr>
        <p:spPr>
          <a:xfrm>
            <a:off x="571500" y="4264372"/>
            <a:ext cx="4838700" cy="333375"/>
          </a:xfrm>
          <a:prstGeom prst="rect">
            <a:avLst/>
          </a:prstGeom>
          <a:noFill/>
        </p:spPr>
        <p:txBody>
          <a:bodyPr wrap="square" lIns="0" tIns="0" rIns="0" bIns="0" anchor="t">
            <a:spAutoFit/>
          </a:bodyPr>
          <a:lstStyle/>
          <a:p>
            <a:pPr algn="ctr"/>
            <a:r>
              <a:rPr sz="2100" b="0" i="0" u="none">
                <a:latin typeface="Times New Roman" panose="02020603050405020304" pitchFamily="18" charset="0"/>
                <a:cs typeface="Times New Roman" panose="02020603050405020304" pitchFamily="18" charset="0"/>
              </a:rPr>
              <a:t>Độ chính xác nhận diện biển số</a:t>
            </a:r>
          </a:p>
        </p:txBody>
      </p:sp>
      <p:sp>
        <p:nvSpPr>
          <p:cNvPr id="7" name="TextBox 6"/>
          <p:cNvSpPr txBox="1"/>
          <p:nvPr/>
        </p:nvSpPr>
        <p:spPr>
          <a:xfrm>
            <a:off x="571500" y="4740622"/>
            <a:ext cx="4838700" cy="218778"/>
          </a:xfrm>
          <a:prstGeom prst="rect">
            <a:avLst/>
          </a:prstGeom>
          <a:noFill/>
        </p:spPr>
        <p:txBody>
          <a:bodyPr wrap="square" lIns="0" tIns="0" rIns="0" bIns="0" anchor="t">
            <a:spAutoFit/>
          </a:bodyPr>
          <a:lstStyle/>
          <a:p>
            <a:pPr algn="ctr">
              <a:lnSpc>
                <a:spcPts val="1920"/>
              </a:lnSpc>
            </a:pPr>
            <a:r>
              <a:rPr sz="1200" b="0" i="0" u="none">
                <a:latin typeface="Times New Roman" panose="02020603050405020304" pitchFamily="18" charset="0"/>
                <a:cs typeface="Times New Roman" panose="02020603050405020304" pitchFamily="18" charset="0"/>
              </a:rPr>
              <a:t>(Trong điều kiện ánh sáng chuẩn)</a:t>
            </a:r>
          </a:p>
        </p:txBody>
      </p:sp>
      <p:sp>
        <p:nvSpPr>
          <p:cNvPr id="8" name="TextBox 7"/>
          <p:cNvSpPr txBox="1"/>
          <p:nvPr/>
        </p:nvSpPr>
        <p:spPr>
          <a:xfrm>
            <a:off x="6572250" y="2124075"/>
            <a:ext cx="5300662" cy="323165"/>
          </a:xfrm>
          <a:prstGeom prst="rect">
            <a:avLst/>
          </a:prstGeom>
          <a:noFill/>
        </p:spPr>
        <p:txBody>
          <a:bodyPr wrap="square" lIns="0" tIns="0" rIns="0" bIns="0" anchor="t">
            <a:spAutoFit/>
          </a:bodyPr>
          <a:lstStyle/>
          <a:p>
            <a:pPr algn="just"/>
            <a:r>
              <a:rPr sz="2100" b="1" i="0" u="none">
                <a:solidFill>
                  <a:srgbClr val="1D4ED8"/>
                </a:solidFill>
                <a:latin typeface="Times New Roman" panose="02020603050405020304" pitchFamily="18" charset="0"/>
                <a:cs typeface="Times New Roman" panose="02020603050405020304" pitchFamily="18" charset="0"/>
              </a:rPr>
              <a:t>Hiệu Năng &amp; Độ Trễ Đáng Cậy</a:t>
            </a:r>
          </a:p>
        </p:txBody>
      </p:sp>
      <p:sp>
        <p:nvSpPr>
          <p:cNvPr id="9" name="TextBox 8"/>
          <p:cNvSpPr txBox="1"/>
          <p:nvPr/>
        </p:nvSpPr>
        <p:spPr>
          <a:xfrm>
            <a:off x="6858000" y="2714625"/>
            <a:ext cx="4762500" cy="923925"/>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Thời gian xử lý Edge AI:</a:t>
            </a:r>
            <a:r>
              <a:rPr sz="1500" b="0" i="0" u="none">
                <a:latin typeface="Times New Roman" panose="02020603050405020304" pitchFamily="18" charset="0"/>
                <a:cs typeface="Times New Roman" panose="02020603050405020304" pitchFamily="18" charset="0"/>
              </a:rPr>
              <a:t> Rất nhanh, giảm thiểu tình trạng treo máy hay nghẽn mạng do không gửi ảnh độ phân giải cao qua mạng.</a:t>
            </a:r>
          </a:p>
        </p:txBody>
      </p:sp>
      <p:sp>
        <p:nvSpPr>
          <p:cNvPr id="10" name="Rectangle 9"/>
          <p:cNvSpPr/>
          <p:nvPr/>
        </p:nvSpPr>
        <p:spPr>
          <a:xfrm>
            <a:off x="6572250" y="3724275"/>
            <a:ext cx="5048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6858000" y="3876675"/>
            <a:ext cx="4762500" cy="923925"/>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Độ trễ MQTT:</a:t>
            </a:r>
            <a:r>
              <a:rPr sz="1500" b="0" i="0" u="none">
                <a:latin typeface="Times New Roman" panose="02020603050405020304" pitchFamily="18" charset="0"/>
                <a:cs typeface="Times New Roman" panose="02020603050405020304" pitchFamily="18" charset="0"/>
              </a:rPr>
              <a:t> Giao tiếp giữa Server và mạch điều khiển ESP32 diễn ra gần như tức thời (thời gian tính bằng mili-giây).</a:t>
            </a:r>
          </a:p>
        </p:txBody>
      </p:sp>
      <p:sp>
        <p:nvSpPr>
          <p:cNvPr id="12" name="Rectangle 11"/>
          <p:cNvSpPr/>
          <p:nvPr/>
        </p:nvSpPr>
        <p:spPr>
          <a:xfrm>
            <a:off x="6572250" y="4886325"/>
            <a:ext cx="5048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6858000" y="5038725"/>
            <a:ext cx="4762500" cy="583686"/>
          </a:xfrm>
          <a:prstGeom prst="rect">
            <a:avLst/>
          </a:prstGeom>
          <a:noFill/>
        </p:spPr>
        <p:txBody>
          <a:bodyPr wrap="square" lIns="0" tIns="0" rIns="0" bIns="0" anchor="t">
            <a:spAutoFit/>
          </a:bodyPr>
          <a:lstStyle/>
          <a:p>
            <a:pPr algn="just">
              <a:lnSpc>
                <a:spcPts val="2400"/>
              </a:lnSpc>
            </a:pPr>
            <a:r>
              <a:rPr sz="1500" b="1" i="0" u="none">
                <a:latin typeface="Times New Roman" panose="02020603050405020304" pitchFamily="18" charset="0"/>
                <a:cs typeface="Times New Roman" panose="02020603050405020304" pitchFamily="18" charset="0"/>
              </a:rPr>
              <a:t>Xử lý ngoại lệ tốt:</a:t>
            </a:r>
            <a:r>
              <a:rPr sz="1500" b="0" i="0" u="none">
                <a:latin typeface="Times New Roman" panose="02020603050405020304" pitchFamily="18" charset="0"/>
                <a:cs typeface="Times New Roman" panose="02020603050405020304" pitchFamily="18" charset="0"/>
              </a:rPr>
              <a:t> Hệ thống có kịch bản dự phòng khi biển số bị lóa, mờ hoặc không có kết nối mạng tạm thời.</a:t>
            </a:r>
          </a:p>
        </p:txBody>
      </p:sp>
      <p:sp>
        <p:nvSpPr>
          <p:cNvPr id="14" name="TextBox 13"/>
          <p:cNvSpPr txBox="1"/>
          <p:nvPr/>
        </p:nvSpPr>
        <p:spPr>
          <a:xfrm>
            <a:off x="6572250" y="2733675"/>
            <a:ext cx="95250"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5" name="Rectangle 14"/>
          <p:cNvSpPr/>
          <p:nvPr/>
        </p:nvSpPr>
        <p:spPr>
          <a:xfrm>
            <a:off x="6572250" y="3724275"/>
            <a:ext cx="5048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6572250" y="3895725"/>
            <a:ext cx="95250"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7" name="Rectangle 16"/>
          <p:cNvSpPr/>
          <p:nvPr/>
        </p:nvSpPr>
        <p:spPr>
          <a:xfrm>
            <a:off x="6572250" y="4886325"/>
            <a:ext cx="504825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a:latin typeface="Times New Roman" panose="02020603050405020304" pitchFamily="18" charset="0"/>
              <a:cs typeface="Times New Roman" panose="02020603050405020304" pitchFamily="18" charset="0"/>
            </a:endParaRPr>
          </a:p>
        </p:txBody>
      </p:sp>
      <p:sp>
        <p:nvSpPr>
          <p:cNvPr id="18" name="TextBox 17"/>
          <p:cNvSpPr txBox="1"/>
          <p:nvPr/>
        </p:nvSpPr>
        <p:spPr>
          <a:xfrm>
            <a:off x="6572250" y="5057775"/>
            <a:ext cx="95250"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1809750"/>
            <a:ext cx="5238750" cy="3333750"/>
          </a:xfrm>
          <a:prstGeom prst="rect">
            <a:avLst/>
          </a:prstGeom>
        </p:spPr>
      </p:pic>
      <p:sp>
        <p:nvSpPr>
          <p:cNvPr id="4" name="TextBox 3"/>
          <p:cNvSpPr txBox="1"/>
          <p:nvPr/>
        </p:nvSpPr>
        <p:spPr>
          <a:xfrm>
            <a:off x="571500" y="571500"/>
            <a:ext cx="11601450" cy="484748"/>
          </a:xfrm>
          <a:prstGeom prst="rect">
            <a:avLst/>
          </a:prstGeom>
          <a:noFill/>
        </p:spPr>
        <p:txBody>
          <a:bodyPr wrap="square" lIns="0" tIns="0" rIns="0" bIns="0" anchor="t">
            <a:spAutoFit/>
          </a:bodyPr>
          <a:lstStyle/>
          <a:p>
            <a:pPr algn="l"/>
            <a:r>
              <a:rPr sz="3150" b="1" i="0" u="none">
                <a:solidFill>
                  <a:srgbClr val="1E3A8A"/>
                </a:solidFill>
                <a:latin typeface="Times New Roman" panose="02020603050405020304" pitchFamily="18" charset="0"/>
                <a:cs typeface="Times New Roman" panose="02020603050405020304" pitchFamily="18" charset="0"/>
              </a:rPr>
              <a:t>Ưu Điểm &amp; Hướng Phát Triển Tương Lai</a:t>
            </a:r>
          </a:p>
        </p:txBody>
      </p:sp>
      <p:sp>
        <p:nvSpPr>
          <p:cNvPr id="5" name="Rectangle 4"/>
          <p:cNvSpPr/>
          <p:nvPr/>
        </p:nvSpPr>
        <p:spPr>
          <a:xfrm>
            <a:off x="571500" y="1266825"/>
            <a:ext cx="11049000" cy="28575"/>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571501" y="1809750"/>
            <a:ext cx="5400306" cy="276999"/>
          </a:xfrm>
          <a:prstGeom prst="rect">
            <a:avLst/>
          </a:prstGeom>
          <a:noFill/>
        </p:spPr>
        <p:txBody>
          <a:bodyPr wrap="square" lIns="0" tIns="0" rIns="0" bIns="0" anchor="t">
            <a:spAutoFit/>
          </a:bodyPr>
          <a:lstStyle/>
          <a:p>
            <a:pPr algn="just"/>
            <a:r>
              <a:rPr sz="1800" b="1" i="0" u="none">
                <a:solidFill>
                  <a:srgbClr val="1D4ED8"/>
                </a:solidFill>
                <a:latin typeface="Times New Roman" panose="02020603050405020304" pitchFamily="18" charset="0"/>
                <a:cs typeface="Times New Roman" panose="02020603050405020304" pitchFamily="18" charset="0"/>
              </a:rPr>
              <a:t>Đánh giá dự án</a:t>
            </a:r>
          </a:p>
        </p:txBody>
      </p:sp>
      <p:sp>
        <p:nvSpPr>
          <p:cNvPr id="7" name="TextBox 6"/>
          <p:cNvSpPr txBox="1"/>
          <p:nvPr/>
        </p:nvSpPr>
        <p:spPr>
          <a:xfrm>
            <a:off x="571501" y="4029075"/>
            <a:ext cx="5400306" cy="276999"/>
          </a:xfrm>
          <a:prstGeom prst="rect">
            <a:avLst/>
          </a:prstGeom>
          <a:noFill/>
        </p:spPr>
        <p:txBody>
          <a:bodyPr wrap="square" lIns="0" tIns="0" rIns="0" bIns="0" anchor="t">
            <a:spAutoFit/>
          </a:bodyPr>
          <a:lstStyle/>
          <a:p>
            <a:pPr algn="just"/>
            <a:r>
              <a:rPr sz="1800" b="1" i="0" u="none">
                <a:solidFill>
                  <a:srgbClr val="1D4ED8"/>
                </a:solidFill>
                <a:latin typeface="Times New Roman" panose="02020603050405020304" pitchFamily="18" charset="0"/>
                <a:cs typeface="Times New Roman" panose="02020603050405020304" pitchFamily="18" charset="0"/>
              </a:rPr>
              <a:t>Hướng phát triển</a:t>
            </a:r>
          </a:p>
        </p:txBody>
      </p:sp>
      <p:sp>
        <p:nvSpPr>
          <p:cNvPr id="8" name="TextBox 7"/>
          <p:cNvSpPr txBox="1"/>
          <p:nvPr/>
        </p:nvSpPr>
        <p:spPr>
          <a:xfrm>
            <a:off x="857250" y="2333625"/>
            <a:ext cx="4862614"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Giải quyết được bài toán chi phí (không tốn tiền mua máy tính, camera xịn, đầu đọc thẻ).</a:t>
            </a:r>
          </a:p>
        </p:txBody>
      </p:sp>
      <p:sp>
        <p:nvSpPr>
          <p:cNvPr id="9" name="TextBox 8"/>
          <p:cNvSpPr txBox="1"/>
          <p:nvPr/>
        </p:nvSpPr>
        <p:spPr>
          <a:xfrm>
            <a:off x="857250" y="3133725"/>
            <a:ext cx="4862614"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Tính cơ động tuyệt đối, chỉ cần 1 chiếc Smartphone cài App là thành lập được một chốt kiểm soát xe.</a:t>
            </a:r>
          </a:p>
        </p:txBody>
      </p:sp>
      <p:sp>
        <p:nvSpPr>
          <p:cNvPr id="10" name="TextBox 9"/>
          <p:cNvSpPr txBox="1"/>
          <p:nvPr/>
        </p:nvSpPr>
        <p:spPr>
          <a:xfrm>
            <a:off x="857250" y="4552950"/>
            <a:ext cx="4862614"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Nâng cấp cơ sở dữ liệu lên PostgreSQL/MySQL để triển khai chuỗi nhiều bãi đỗ xe liên kết.</a:t>
            </a:r>
          </a:p>
        </p:txBody>
      </p:sp>
      <p:sp>
        <p:nvSpPr>
          <p:cNvPr id="11" name="TextBox 10"/>
          <p:cNvSpPr txBox="1"/>
          <p:nvPr/>
        </p:nvSpPr>
        <p:spPr>
          <a:xfrm>
            <a:off x="857250" y="5353050"/>
            <a:ext cx="4862614" cy="583686"/>
          </a:xfrm>
          <a:prstGeom prst="rect">
            <a:avLst/>
          </a:prstGeom>
          <a:noFill/>
        </p:spPr>
        <p:txBody>
          <a:bodyPr wrap="square" lIns="0" tIns="0" rIns="0" bIns="0" anchor="t">
            <a:spAutoFit/>
          </a:bodyPr>
          <a:lstStyle/>
          <a:p>
            <a:pPr algn="just">
              <a:lnSpc>
                <a:spcPts val="2400"/>
              </a:lnSpc>
            </a:pPr>
            <a:r>
              <a:rPr sz="1500" b="0" i="0" u="none">
                <a:latin typeface="Times New Roman" panose="02020603050405020304" pitchFamily="18" charset="0"/>
                <a:cs typeface="Times New Roman" panose="02020603050405020304" pitchFamily="18" charset="0"/>
              </a:rPr>
              <a:t>Tích hợp cổng thanh toán online (Momo, VNPay) thay vì nạp tiền thủ công vào ví nội bộ.</a:t>
            </a:r>
          </a:p>
        </p:txBody>
      </p:sp>
      <p:pic>
        <p:nvPicPr>
          <p:cNvPr id="12" name="Picture 11" descr="image.png"/>
          <p:cNvPicPr>
            <a:picLocks noChangeAspect="1"/>
          </p:cNvPicPr>
          <p:nvPr/>
        </p:nvPicPr>
        <p:blipFill>
          <a:blip r:embed="rId4"/>
          <a:stretch>
            <a:fillRect/>
          </a:stretch>
        </p:blipFill>
        <p:spPr>
          <a:xfrm>
            <a:off x="6381750" y="1809750"/>
            <a:ext cx="5238750" cy="3333750"/>
          </a:xfrm>
          <a:prstGeom prst="rect">
            <a:avLst/>
          </a:prstGeom>
        </p:spPr>
      </p:pic>
      <p:sp>
        <p:nvSpPr>
          <p:cNvPr id="13" name="TextBox 12"/>
          <p:cNvSpPr txBox="1"/>
          <p:nvPr/>
        </p:nvSpPr>
        <p:spPr>
          <a:xfrm>
            <a:off x="571500" y="2352675"/>
            <a:ext cx="93512"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4" name="TextBox 13"/>
          <p:cNvSpPr txBox="1"/>
          <p:nvPr/>
        </p:nvSpPr>
        <p:spPr>
          <a:xfrm>
            <a:off x="571500" y="3152775"/>
            <a:ext cx="93512"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5" name="TextBox 14"/>
          <p:cNvSpPr txBox="1"/>
          <p:nvPr/>
        </p:nvSpPr>
        <p:spPr>
          <a:xfrm>
            <a:off x="571500" y="4572000"/>
            <a:ext cx="93512"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
        <p:nvSpPr>
          <p:cNvPr id="16" name="TextBox 15"/>
          <p:cNvSpPr txBox="1"/>
          <p:nvPr/>
        </p:nvSpPr>
        <p:spPr>
          <a:xfrm>
            <a:off x="571500" y="5372100"/>
            <a:ext cx="93512" cy="218778"/>
          </a:xfrm>
          <a:prstGeom prst="rect">
            <a:avLst/>
          </a:prstGeom>
          <a:noFill/>
        </p:spPr>
        <p:txBody>
          <a:bodyPr wrap="square" lIns="0" tIns="0" rIns="0" bIns="0" anchor="t">
            <a:spAutoFit/>
          </a:bodyPr>
          <a:lstStyle/>
          <a:p>
            <a:pPr algn="just">
              <a:lnSpc>
                <a:spcPts val="1920"/>
              </a:lnSpc>
            </a:pPr>
            <a:r>
              <a:rPr sz="1200" b="0" i="0" u="none">
                <a:solidFill>
                  <a:srgbClr val="3B82F6"/>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1532632"/>
            <a:ext cx="11601450" cy="1038746"/>
          </a:xfrm>
          <a:prstGeom prst="rect">
            <a:avLst/>
          </a:prstGeom>
          <a:noFill/>
        </p:spPr>
        <p:txBody>
          <a:bodyPr wrap="square" lIns="0" tIns="0" rIns="0" bIns="0" anchor="t">
            <a:spAutoFit/>
          </a:bodyPr>
          <a:lstStyle/>
          <a:p>
            <a:pPr algn="ctr"/>
            <a:r>
              <a:rPr sz="6750" b="1" i="0" u="none">
                <a:solidFill>
                  <a:srgbClr val="1E3A8A"/>
                </a:solidFill>
                <a:latin typeface="Times New Roman" panose="02020603050405020304" pitchFamily="18" charset="0"/>
                <a:cs typeface="Times New Roman" panose="02020603050405020304" pitchFamily="18" charset="0"/>
              </a:rPr>
              <a:t>Xin Trân Trọng Cảm Ơn!</a:t>
            </a:r>
          </a:p>
        </p:txBody>
      </p:sp>
      <p:sp>
        <p:nvSpPr>
          <p:cNvPr id="4" name="TextBox 3"/>
          <p:cNvSpPr txBox="1"/>
          <p:nvPr/>
        </p:nvSpPr>
        <p:spPr>
          <a:xfrm>
            <a:off x="571500" y="3018532"/>
            <a:ext cx="11049000" cy="437620"/>
          </a:xfrm>
          <a:prstGeom prst="rect">
            <a:avLst/>
          </a:prstGeom>
          <a:noFill/>
        </p:spPr>
        <p:txBody>
          <a:bodyPr wrap="square" lIns="0" tIns="0" rIns="0" bIns="0" anchor="t">
            <a:spAutoFit/>
          </a:bodyPr>
          <a:lstStyle/>
          <a:p>
            <a:pPr algn="ctr">
              <a:lnSpc>
                <a:spcPts val="3840"/>
              </a:lnSpc>
            </a:pPr>
            <a:r>
              <a:rPr sz="2400" b="0" i="0" u="none">
                <a:latin typeface="Times New Roman" panose="02020603050405020304" pitchFamily="18" charset="0"/>
                <a:cs typeface="Times New Roman" panose="02020603050405020304" pitchFamily="18" charset="0"/>
              </a:rPr>
              <a:t>Quý Thầy/Cô Hội đồng đã lắng nghe phần trình bày.</a:t>
            </a:r>
          </a:p>
        </p:txBody>
      </p:sp>
      <p:sp>
        <p:nvSpPr>
          <p:cNvPr id="5" name="Rectangle 4"/>
          <p:cNvSpPr/>
          <p:nvPr/>
        </p:nvSpPr>
        <p:spPr>
          <a:xfrm>
            <a:off x="5619750" y="3887092"/>
            <a:ext cx="9525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p:cNvSpPr txBox="1"/>
          <p:nvPr/>
        </p:nvSpPr>
        <p:spPr>
          <a:xfrm>
            <a:off x="571500" y="4306192"/>
            <a:ext cx="11049000" cy="285750"/>
          </a:xfrm>
          <a:prstGeom prst="rect">
            <a:avLst/>
          </a:prstGeom>
          <a:noFill/>
        </p:spPr>
        <p:txBody>
          <a:bodyPr wrap="square" lIns="381000" tIns="0" rIns="0" bIns="0" anchor="t">
            <a:spAutoFit/>
          </a:bodyPr>
          <a:lstStyle/>
          <a:p>
            <a:pPr algn="ctr"/>
            <a:r>
              <a:rPr sz="1800" b="0" i="0" u="none">
                <a:solidFill>
                  <a:srgbClr val="0F172A"/>
                </a:solidFill>
                <a:latin typeface="Times New Roman" panose="02020603050405020304" pitchFamily="18" charset="0"/>
                <a:cs typeface="Times New Roman" panose="02020603050405020304" pitchFamily="18" charset="0"/>
              </a:rPr>
              <a:t>Sinh viên: Vũ Duy Hoàng - 22050038</a:t>
            </a:r>
          </a:p>
        </p:txBody>
      </p:sp>
      <p:sp>
        <p:nvSpPr>
          <p:cNvPr id="7" name="TextBox 6"/>
          <p:cNvSpPr txBox="1"/>
          <p:nvPr/>
        </p:nvSpPr>
        <p:spPr>
          <a:xfrm>
            <a:off x="571500" y="4877692"/>
            <a:ext cx="11049000" cy="275909"/>
          </a:xfrm>
          <a:prstGeom prst="rect">
            <a:avLst/>
          </a:prstGeom>
          <a:noFill/>
        </p:spPr>
        <p:txBody>
          <a:bodyPr wrap="square" lIns="0" tIns="0" rIns="0" bIns="0" anchor="t">
            <a:spAutoFit/>
          </a:bodyPr>
          <a:lstStyle/>
          <a:p>
            <a:pPr algn="ctr">
              <a:lnSpc>
                <a:spcPts val="2400"/>
              </a:lnSpc>
            </a:pPr>
            <a:r>
              <a:rPr sz="1500" b="0" i="0" u="none">
                <a:solidFill>
                  <a:srgbClr val="3B82F6"/>
                </a:solidFill>
                <a:latin typeface="Times New Roman" panose="02020603050405020304" pitchFamily="18" charset="0"/>
                <a:cs typeface="Times New Roman" panose="02020603050405020304" pitchFamily="18" charset="0"/>
              </a:rPr>
              <a:t>Kính mong nhận được sự góp ý từ Hội đồng.</a:t>
            </a:r>
          </a:p>
        </p:txBody>
      </p:sp>
      <p:pic>
        <p:nvPicPr>
          <p:cNvPr id="8" name="Picture 7" descr="image.png"/>
          <p:cNvPicPr>
            <a:picLocks noChangeAspect="1"/>
          </p:cNvPicPr>
          <p:nvPr/>
        </p:nvPicPr>
        <p:blipFill>
          <a:blip r:embed="rId3"/>
          <a:stretch>
            <a:fillRect/>
          </a:stretch>
        </p:blipFill>
        <p:spPr>
          <a:xfrm>
            <a:off x="3978175" y="4334767"/>
            <a:ext cx="285750" cy="228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675</TotalTime>
  <Words>1154</Words>
  <Application>Microsoft Office PowerPoint</Application>
  <PresentationFormat>Widescreen</PresentationFormat>
  <Paragraphs>96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Duy Hoàng Vũ</cp:lastModifiedBy>
  <cp:revision>5</cp:revision>
  <dcterms:created xsi:type="dcterms:W3CDTF">2013-01-27T09:14:16Z</dcterms:created>
  <dcterms:modified xsi:type="dcterms:W3CDTF">2026-09-09T03:43:35Z</dcterms:modified>
  <cp:category/>
</cp:coreProperties>
</file>